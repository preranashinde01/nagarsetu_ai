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respected evaluators and panel members. Today I am presenting NagarSetu AI, an enterprise-grade Civic Intelligence and Governance Orchestration platform powered by Generative AI and spatial telemetry, configured with real-world administrative data for Ichalkaranji Municipal Corporation.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urban local bodies struggle with three fundamental bottlenecks: fragmented grievance intake without closed-loop proof, severe operational waste from duplicate tickets, and absence of spatial visibility. NagarSetu AI directly solves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NagarSetu AI provides a bilateral ecosystem: a friction-free portal for citizens, coupled with an enterprise-grade desktop command center for municipal controllers and field engineers.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represents the core technological heart of NagarSetu AI: three distinct GenAI and intelligent algorithms. The Civic Assistant guides citizens naturally, the Routing Engine classifies emergencies, and the Deduplication Engine clusters co-located complaints into single work orders.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engineering stack combines a React 18 frontend inside an Electron desktop wrapper, backed by Node.js/Express and MongoDB. The system enforces tenant isolation and atomic ID generation to guarantee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creating a generic synthetic city, NagarSetu AI is anchored to real-world administrative data from Ichalkaranji Municipal Corporation. We mapped its 16 election wards, Panchganga river water intakes, and textile industrial sectors while strictly omitting private contact numbers.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5-step lifecycle. Notice Step 5: unlike traditional portals where government workers mark things complete without verification, NagarSetu AI enforces citizen sign-off with a rework escalation path.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 order module ensures that civic repairs are genuinely completed. Workers must submit before and after photos, and supervisors inspect proof before the case reaches the citizen for final sign-off.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guarantee accountability, NagarSetu AI runs an automated SLA clock. When deadlines are at risk or breached, cases escalate up the bureaucratic ladder automatically from supervisor to commissioner.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RBAC matrix covers 11 distinct user personas, ensuring strict segregation of duties. Workers only see assigned tasks, citizens only see their complaints, and controllers have citywide command oversight.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Smart City GIS Mesh and Civic Telemetry Grid give controllers an instant bird's eye view. Municipal sectors—water, electricity, roads, and drainage—are monitored with live telemetry badges.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NagarSetu AI is not just a concept—it is a verified, fully built civic governance platform ready for live deployment in Ichalkaranji Municipal Corporation, providing a modern template for smart governance in India.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3291840"/>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3474720"/>
          </a:xfrm>
          <a:prstGeom prst="rect">
            <a:avLst/>
          </a:prstGeom>
          <a:noFill/>
        </p:spPr>
        <p:txBody>
          <a:bodyPr wrap="square">
            <a:spAutoFit/>
          </a:bodyPr>
          <a:lstStyle/>
          <a:p>
            <a:pPr>
              <a:spcAft>
                <a:spcPts val="800"/>
              </a:spcAft>
              <a:defRPr sz="1300" b="1">
                <a:solidFill>
                  <a:srgbClr val="F59E0B"/>
                </a:solidFill>
              </a:defRPr>
            </a:pPr>
            <a:r>
              <a:t>PROJECT SYNOPSIS &amp; TECHNICAL PRESENTATION</a:t>
            </a:r>
          </a:p>
          <a:p>
            <a:r>
              <a:rPr sz="4400" b="1">
                <a:solidFill>
                  <a:srgbClr val="F8FAFC"/>
                </a:solidFill>
              </a:rPr>
              <a:t>NAGAR</a:t>
            </a:r>
            <a:r>
              <a:rPr sz="4400" b="1">
                <a:solidFill>
                  <a:srgbClr val="F59E0B"/>
                </a:solidFill>
              </a:rPr>
              <a:t>SETU </a:t>
            </a:r>
            <a:r>
              <a:rPr sz="4400" b="1">
                <a:solidFill>
                  <a:srgbClr val="14B8A6"/>
                </a:solidFill>
              </a:rPr>
              <a:t>AI</a:t>
            </a:r>
          </a:p>
          <a:p>
            <a:pPr>
              <a:spcAft>
                <a:spcPts val="1600"/>
              </a:spcAft>
              <a:defRPr sz="2000" i="1">
                <a:solidFill>
                  <a:srgbClr val="94A3B8"/>
                </a:solidFill>
              </a:defRPr>
            </a:pPr>
            <a:r>
              <a:t>Connecting Citizens. Empowering Governance.</a:t>
            </a:r>
          </a:p>
          <a:p>
            <a:pPr>
              <a:defRPr sz="1500" b="1">
                <a:solidFill>
                  <a:srgbClr val="F8FAFC"/>
                </a:solidFill>
              </a:defRPr>
            </a:pPr>
            <a:r>
              <a:t>An Autonomous Civic Intelligence, Spatial GIS Telemetry &amp; Grievance Orchestration Platform</a:t>
            </a:r>
          </a:p>
          <a:p>
            <a:pPr>
              <a:defRPr sz="1300">
                <a:solidFill>
                  <a:srgbClr val="14B8A6"/>
                </a:solidFill>
              </a:defRPr>
            </a:pPr>
            <a:r>
              <a:t>Flagship Implementation: Ichalkaranji Municipal Corporation (IMC)</a:t>
            </a:r>
          </a:p>
        </p:txBody>
      </p:sp>
      <p:sp>
        <p:nvSpPr>
          <p:cNvPr id="5" name="Rounded Rectangle 4"/>
          <p:cNvSpPr/>
          <p:nvPr/>
        </p:nvSpPr>
        <p:spPr>
          <a:xfrm>
            <a:off x="731520" y="5029200"/>
            <a:ext cx="10698480" cy="1188720"/>
          </a:xfrm>
          <a:prstGeom prst="roundRect">
            <a:avLst/>
          </a:prstGeom>
          <a:solidFill>
            <a:srgbClr val="0F172A"/>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p>
          <a:p>
            <a:pPr>
              <a:spcAft>
                <a:spcPts val="600"/>
              </a:spcAft>
            </a:pPr>
            <a:r>
              <a:rPr b="1" sz="1200">
                <a:solidFill>
                  <a:srgbClr val="F8FAFC"/>
                </a:solidFill>
              </a:rPr>
              <a:t>- Core Capabilities: </a:t>
            </a:r>
            <a:r>
              <a:rPr sz="1200">
                <a:solidFill>
                  <a:srgbClr val="94A3B8"/>
                </a:solidFill>
              </a:rPr>
              <a:t>Generative AI Civic Assistant | Geo-Spatial Deduplication | Automated SLA Engine | Multi-Role Command Center</a:t>
            </a:r>
          </a:p>
          <a:p>
            <a:pPr>
              <a:spcAft>
                <a:spcPts val="600"/>
              </a:spcAft>
            </a:pPr>
            <a:r>
              <a:rPr b="1" sz="1200">
                <a:solidFill>
                  <a:srgbClr val="F8FAFC"/>
                </a:solidFill>
              </a:rPr>
              <a:t>- Architecture: </a:t>
            </a:r>
            <a:r>
              <a:rPr sz="1200">
                <a:solidFill>
                  <a:srgbClr val="94A3B8"/>
                </a:solidFill>
              </a:rPr>
              <a:t>Full-Stack Web + Electron Desktop Shell + Node.js REST API + MongoDB Spatial ODM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CONTEXT &amp; CHALLENGES</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The Urban Civic Governance Crisis</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Why traditional municipal helpline portals and manual filing fail in modern smart cities.</a:t>
            </a:r>
          </a:p>
        </p:txBody>
      </p:sp>
      <p:sp>
        <p:nvSpPr>
          <p:cNvPr id="6" name="Rounded Rectangle 5"/>
          <p:cNvSpPr/>
          <p:nvPr/>
        </p:nvSpPr>
        <p:spPr>
          <a:xfrm>
            <a:off x="731520" y="1828800"/>
            <a:ext cx="3291840" cy="4389120"/>
          </a:xfrm>
          <a:prstGeom prst="roundRect">
            <a:avLst/>
          </a:prstGeom>
          <a:solidFill>
            <a:srgbClr val="131D31"/>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1. Grievance Fragmentation</a:t>
            </a:r>
          </a:p>
          <a:p>
            <a:pPr>
              <a:spcAft>
                <a:spcPts val="600"/>
              </a:spcAft>
            </a:pPr>
            <a:r>
              <a:rPr b="1" sz="1200">
                <a:solidFill>
                  <a:srgbClr val="F8FAFC"/>
                </a:solidFill>
              </a:rPr>
              <a:t>- Multiple Disconnected Silos: </a:t>
            </a:r>
            <a:r>
              <a:rPr sz="1200">
                <a:solidFill>
                  <a:srgbClr val="94A3B8"/>
                </a:solidFill>
              </a:rPr>
              <a:t>Complaints arrive through paper letters, phone calls, social media, and verbal requests with zero unified tracking.</a:t>
            </a:r>
          </a:p>
          <a:p>
            <a:pPr>
              <a:spcAft>
                <a:spcPts val="600"/>
              </a:spcAft>
            </a:pPr>
            <a:r>
              <a:rPr b="1" sz="1200">
                <a:solidFill>
                  <a:srgbClr val="F8FAFC"/>
                </a:solidFill>
              </a:rPr>
              <a:t>- No Unified Tracking ID: </a:t>
            </a:r>
            <a:r>
              <a:rPr sz="1200">
                <a:solidFill>
                  <a:srgbClr val="94A3B8"/>
                </a:solidFill>
              </a:rPr>
              <a:t>Citizens cannot verify if their complaint was recorded, triaged, or lost in bureaucratic transit.</a:t>
            </a:r>
          </a:p>
          <a:p>
            <a:pPr>
              <a:spcAft>
                <a:spcPts val="600"/>
              </a:spcAft>
            </a:pPr>
            <a:r>
              <a:rPr b="1" sz="1200">
                <a:solidFill>
                  <a:srgbClr val="F8FAFC"/>
                </a:solidFill>
              </a:rPr>
              <a:t>- No Citizen Verification: </a:t>
            </a:r>
            <a:r>
              <a:rPr sz="1200">
                <a:solidFill>
                  <a:srgbClr val="94A3B8"/>
                </a:solidFill>
              </a:rPr>
              <a:t>Cases are closed on paper by departments without the complainant confirming actual physical resolution.</a:t>
            </a:r>
          </a:p>
        </p:txBody>
      </p:sp>
      <p:sp>
        <p:nvSpPr>
          <p:cNvPr id="7" name="Rounded Rectangle 6"/>
          <p:cNvSpPr/>
          <p:nvPr/>
        </p:nvSpPr>
        <p:spPr>
          <a:xfrm>
            <a:off x="4389120" y="1828800"/>
            <a:ext cx="3291840" cy="4389120"/>
          </a:xfrm>
          <a:prstGeom prst="roundRect">
            <a:avLst/>
          </a:prstGeom>
          <a:solidFill>
            <a:srgbClr val="131D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2. Operational Inefficiency</a:t>
            </a:r>
          </a:p>
          <a:p>
            <a:pPr>
              <a:spcAft>
                <a:spcPts val="600"/>
              </a:spcAft>
            </a:pPr>
            <a:r>
              <a:rPr b="1" sz="1200">
                <a:solidFill>
                  <a:srgbClr val="F8FAFC"/>
                </a:solidFill>
              </a:rPr>
              <a:t>- Duplicate Flooding: </a:t>
            </a:r>
            <a:r>
              <a:rPr sz="1200">
                <a:solidFill>
                  <a:srgbClr val="94A3B8"/>
                </a:solidFill>
              </a:rPr>
              <a:t>A single pothole or water leak triggers dozens of separate complaints, wasting manual sorting hours.</a:t>
            </a:r>
          </a:p>
          <a:p>
            <a:pPr>
              <a:spcAft>
                <a:spcPts val="600"/>
              </a:spcAft>
            </a:pPr>
            <a:r>
              <a:rPr b="1" sz="1200">
                <a:solidFill>
                  <a:srgbClr val="F8FAFC"/>
                </a:solidFill>
              </a:rPr>
              <a:t>- Blind Routing Delays: </a:t>
            </a:r>
            <a:r>
              <a:rPr sz="1200">
                <a:solidFill>
                  <a:srgbClr val="94A3B8"/>
                </a:solidFill>
              </a:rPr>
              <a:t>Complaints take 3-7 days just to reach the correct civil or sanitation junior engineer.</a:t>
            </a:r>
          </a:p>
          <a:p>
            <a:pPr>
              <a:spcAft>
                <a:spcPts val="600"/>
              </a:spcAft>
            </a:pPr>
            <a:r>
              <a:rPr b="1" sz="1200">
                <a:solidFill>
                  <a:srgbClr val="F8FAFC"/>
                </a:solidFill>
              </a:rPr>
              <a:t>- Absence of Closed Loop: </a:t>
            </a:r>
            <a:r>
              <a:rPr sz="1200">
                <a:solidFill>
                  <a:srgbClr val="94A3B8"/>
                </a:solidFill>
              </a:rPr>
              <a:t>Supervisors lack proof-of-work validation (before/after geotagged media) before marking tasks complete.</a:t>
            </a:r>
          </a:p>
        </p:txBody>
      </p:sp>
      <p:sp>
        <p:nvSpPr>
          <p:cNvPr id="8" name="Rounded Rectangle 7"/>
          <p:cNvSpPr/>
          <p:nvPr/>
        </p:nvSpPr>
        <p:spPr>
          <a:xfrm>
            <a:off x="8046720" y="1828800"/>
            <a:ext cx="3383280" cy="4389120"/>
          </a:xfrm>
          <a:prstGeom prst="roundRect">
            <a:avLst/>
          </a:prstGeom>
          <a:solidFill>
            <a:srgbClr val="131D31"/>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3. Spatial &amp; Operational Gaps</a:t>
            </a:r>
          </a:p>
          <a:p>
            <a:pPr>
              <a:spcAft>
                <a:spcPts val="600"/>
              </a:spcAft>
            </a:pPr>
            <a:r>
              <a:rPr b="1" sz="1200">
                <a:solidFill>
                  <a:srgbClr val="F8FAFC"/>
                </a:solidFill>
              </a:rPr>
              <a:t>- Accessibility Barriers: </a:t>
            </a:r>
            <a:r>
              <a:rPr sz="1200">
                <a:solidFill>
                  <a:srgbClr val="94A3B8"/>
                </a:solidFill>
              </a:rPr>
              <a:t>Complex, unfriendly interfaces prevent average citizens from tracking municipal service delivery.</a:t>
            </a:r>
          </a:p>
          <a:p>
            <a:pPr>
              <a:spcAft>
                <a:spcPts val="600"/>
              </a:spcAft>
            </a:pPr>
            <a:r>
              <a:rPr b="1" sz="1200">
                <a:solidFill>
                  <a:srgbClr val="F8FAFC"/>
                </a:solidFill>
              </a:rPr>
              <a:t>- Lack of Real-time GIS: </a:t>
            </a:r>
            <a:r>
              <a:rPr sz="1200">
                <a:solidFill>
                  <a:srgbClr val="94A3B8"/>
                </a:solidFill>
              </a:rPr>
              <a:t>Controllers cannot view ward density maps, spatial complaint clusters, or field crew telemetry.</a:t>
            </a:r>
          </a:p>
          <a:p>
            <a:pPr>
              <a:spcAft>
                <a:spcPts val="600"/>
              </a:spcAft>
            </a:pPr>
            <a:r>
              <a:rPr b="1" sz="1200">
                <a:solidFill>
                  <a:srgbClr val="F8FAFC"/>
                </a:solidFill>
              </a:rPr>
              <a:t>- SLA Breaches Unnoticed: </a:t>
            </a:r>
            <a:r>
              <a:rPr sz="1200">
                <a:solidFill>
                  <a:srgbClr val="94A3B8"/>
                </a:solidFill>
              </a:rPr>
              <a:t>Critical P1 emergencies (burst pipelines, open live cables) breach deadlines with zero automated escalation.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THE SOLUTION</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NagarSetu AI: Closed-Loop Civic Intelligence</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Bridging citizens and municipal administration with AI triage, GIS mapping, and field proof.</a:t>
            </a:r>
          </a:p>
        </p:txBody>
      </p:sp>
      <p:sp>
        <p:nvSpPr>
          <p:cNvPr id="6" name="Rounded Rectangle 5"/>
          <p:cNvSpPr/>
          <p:nvPr/>
        </p:nvSpPr>
        <p:spPr>
          <a:xfrm>
            <a:off x="7315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For Citizens (Public Portal)</a:t>
            </a:r>
          </a:p>
          <a:p>
            <a:pPr>
              <a:spcAft>
                <a:spcPts val="600"/>
              </a:spcAft>
            </a:pPr>
            <a:r>
              <a:rPr b="1" sz="1200">
                <a:solidFill>
                  <a:srgbClr val="F8FAFC"/>
                </a:solidFill>
              </a:rPr>
              <a:t>- 7-Step Guided Filing: </a:t>
            </a:r>
            <a:r>
              <a:rPr sz="1200">
                <a:solidFill>
                  <a:srgbClr val="94A3B8"/>
                </a:solidFill>
              </a:rPr>
              <a:t>Intuitive wizard with auto GPS capture, category selection, and photo/video proof upload.</a:t>
            </a:r>
          </a:p>
          <a:p>
            <a:pPr>
              <a:spcAft>
                <a:spcPts val="600"/>
              </a:spcAft>
            </a:pPr>
            <a:r>
              <a:rPr b="1" sz="1200">
                <a:solidFill>
                  <a:srgbClr val="F8FAFC"/>
                </a:solidFill>
              </a:rPr>
              <a:t>- Accessible User Interface: </a:t>
            </a:r>
            <a:r>
              <a:rPr sz="1200">
                <a:solidFill>
                  <a:srgbClr val="94A3B8"/>
                </a:solidFill>
              </a:rPr>
              <a:t>Clear, responsive, and easy-to-use workflows across all devices and screen sizes.</a:t>
            </a:r>
          </a:p>
          <a:p>
            <a:pPr>
              <a:spcAft>
                <a:spcPts val="600"/>
              </a:spcAft>
            </a:pPr>
            <a:r>
              <a:rPr b="1" sz="1200">
                <a:solidFill>
                  <a:srgbClr val="F8FAFC"/>
                </a:solidFill>
              </a:rPr>
              <a:t>- Atomic Sequential Tracking: </a:t>
            </a:r>
            <a:r>
              <a:rPr sz="1200">
                <a:solidFill>
                  <a:srgbClr val="94A3B8"/>
                </a:solidFill>
              </a:rPr>
              <a:t>Every case receives an immutable ID (e.g., NGS-2026-000142) with full audit timeline.</a:t>
            </a:r>
          </a:p>
          <a:p>
            <a:pPr>
              <a:spcAft>
                <a:spcPts val="600"/>
              </a:spcAft>
            </a:pPr>
            <a:r>
              <a:rPr b="1" sz="1200">
                <a:solidFill>
                  <a:srgbClr val="F8FAFC"/>
                </a:solidFill>
              </a:rPr>
              <a:t>- Two-Way Resolution Verification: </a:t>
            </a:r>
            <a:r>
              <a:rPr sz="1200">
                <a:solidFill>
                  <a:srgbClr val="94A3B8"/>
                </a:solidFill>
              </a:rPr>
              <a:t>Ticket cannot be permanently closed until the citizen verifies resolution with 'Yes' or 'No (Reopen)'.</a:t>
            </a:r>
          </a:p>
        </p:txBody>
      </p:sp>
      <p:sp>
        <p:nvSpPr>
          <p:cNvPr id="7" name="Rounded Rectangle 6"/>
          <p:cNvSpPr/>
          <p:nvPr/>
        </p:nvSpPr>
        <p:spPr>
          <a:xfrm>
            <a:off x="62179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For Municipal Administration (Command Center)</a:t>
            </a:r>
          </a:p>
          <a:p>
            <a:pPr>
              <a:spcAft>
                <a:spcPts val="600"/>
              </a:spcAft>
            </a:pPr>
            <a:r>
              <a:rPr b="1" sz="1200">
                <a:solidFill>
                  <a:srgbClr val="F8FAFC"/>
                </a:solidFill>
              </a:rPr>
              <a:t>- Desktop Mission Control: </a:t>
            </a:r>
            <a:r>
              <a:rPr sz="1200">
                <a:solidFill>
                  <a:srgbClr val="94A3B8"/>
                </a:solidFill>
              </a:rPr>
              <a:t>Dedicated Electron application for high-density command center dashboards with live telemetry.</a:t>
            </a:r>
          </a:p>
          <a:p>
            <a:pPr>
              <a:spcAft>
                <a:spcPts val="600"/>
              </a:spcAft>
            </a:pPr>
            <a:r>
              <a:rPr b="1" sz="1200">
                <a:solidFill>
                  <a:srgbClr val="F8FAFC"/>
                </a:solidFill>
              </a:rPr>
              <a:t>- Automated AI Routing &amp; Triage: </a:t>
            </a:r>
            <a:r>
              <a:rPr sz="1200">
                <a:solidFill>
                  <a:srgbClr val="94A3B8"/>
                </a:solidFill>
              </a:rPr>
              <a:t>Instant categorization, severity evaluation, and auto-dispatch to the responsible department.</a:t>
            </a:r>
          </a:p>
          <a:p>
            <a:pPr>
              <a:spcAft>
                <a:spcPts val="600"/>
              </a:spcAft>
            </a:pPr>
            <a:r>
              <a:rPr b="1" sz="1200">
                <a:solidFill>
                  <a:srgbClr val="F8FAFC"/>
                </a:solidFill>
              </a:rPr>
              <a:t>- Interactive GIS Smart City Mesh: </a:t>
            </a:r>
            <a:r>
              <a:rPr sz="1200">
                <a:solidFill>
                  <a:srgbClr val="94A3B8"/>
                </a:solidFill>
              </a:rPr>
              <a:t>Leaflet-based spatial layer tracking ward boundaries, active crews, and hot clusters.</a:t>
            </a:r>
          </a:p>
          <a:p>
            <a:pPr>
              <a:spcAft>
                <a:spcPts val="600"/>
              </a:spcAft>
            </a:pPr>
            <a:r>
              <a:rPr b="1" sz="1200">
                <a:solidFill>
                  <a:srgbClr val="F8FAFC"/>
                </a:solidFill>
              </a:rPr>
              <a:t>- Hierarchical Multi-Role RBAC: </a:t>
            </a:r>
            <a:r>
              <a:rPr sz="1200">
                <a:solidFill>
                  <a:srgbClr val="94A3B8"/>
                </a:solidFill>
              </a:rPr>
              <a:t>Tailored console for 11 personas: Controllers, Ward Officers, Engineers, Supervisors, Workers, and Commissioners.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CORE INNOVATION</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Generative AI &amp; Intelligent Civic Pipeline</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The AI components powering automated governance and intelligent dispatch.</a:t>
            </a:r>
          </a:p>
        </p:txBody>
      </p:sp>
      <p:sp>
        <p:nvSpPr>
          <p:cNvPr id="6" name="Rounded Rectangle 5"/>
          <p:cNvSpPr/>
          <p:nvPr/>
        </p:nvSpPr>
        <p:spPr>
          <a:xfrm>
            <a:off x="731520" y="1828800"/>
            <a:ext cx="3291840" cy="4389120"/>
          </a:xfrm>
          <a:prstGeom prst="roundRect">
            <a:avLst/>
          </a:prstGeom>
          <a:solidFill>
            <a:srgbClr val="131D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1. Civic Assistant Chatbot</a:t>
            </a:r>
          </a:p>
          <a:p>
            <a:pPr>
              <a:spcAft>
                <a:spcPts val="600"/>
              </a:spcAft>
            </a:pPr>
            <a:r>
              <a:rPr b="1" sz="1200">
                <a:solidFill>
                  <a:srgbClr val="F8FAFC"/>
                </a:solidFill>
              </a:rPr>
              <a:t>- Conversational GenAI / NLP: </a:t>
            </a:r>
            <a:r>
              <a:rPr sz="1200">
                <a:solidFill>
                  <a:srgbClr val="94A3B8"/>
                </a:solidFill>
              </a:rPr>
              <a:t>Guides citizens interactively through complaint filing and service discovery.</a:t>
            </a:r>
          </a:p>
          <a:p>
            <a:pPr>
              <a:spcAft>
                <a:spcPts val="600"/>
              </a:spcAft>
            </a:pPr>
            <a:r>
              <a:rPr b="1" sz="1200">
                <a:solidFill>
                  <a:srgbClr val="F8FAFC"/>
                </a:solidFill>
              </a:rPr>
              <a:t>- Context-Aware Inquiry: </a:t>
            </a:r>
            <a:r>
              <a:rPr sz="1200">
                <a:solidFill>
                  <a:srgbClr val="94A3B8"/>
                </a:solidFill>
              </a:rPr>
              <a:t>Answers questions about priority tiers, municipal departments, and prabhag boundaries.</a:t>
            </a:r>
          </a:p>
          <a:p>
            <a:pPr>
              <a:spcAft>
                <a:spcPts val="600"/>
              </a:spcAft>
            </a:pPr>
            <a:r>
              <a:rPr b="1" sz="1200">
                <a:solidFill>
                  <a:srgbClr val="F8FAFC"/>
                </a:solidFill>
              </a:rPr>
              <a:t>- Resilient Dual Engine: </a:t>
            </a:r>
            <a:r>
              <a:rPr sz="1200">
                <a:solidFill>
                  <a:srgbClr val="94A3B8"/>
                </a:solidFill>
              </a:rPr>
              <a:t>Backend LLM integration with an instant client-side NLP fallback that works seamlessly offline.</a:t>
            </a:r>
          </a:p>
          <a:p>
            <a:pPr>
              <a:spcAft>
                <a:spcPts val="600"/>
              </a:spcAft>
            </a:pPr>
            <a:r>
              <a:rPr b="1" sz="1200">
                <a:solidFill>
                  <a:srgbClr val="F8FAFC"/>
                </a:solidFill>
              </a:rPr>
              <a:t>- Direct Action Chips: </a:t>
            </a:r>
            <a:r>
              <a:rPr sz="1200">
                <a:solidFill>
                  <a:srgbClr val="94A3B8"/>
                </a:solidFill>
              </a:rPr>
              <a:t>Suggests actionable navigation pills directly linking to filing wizards and tracking files.</a:t>
            </a:r>
          </a:p>
        </p:txBody>
      </p:sp>
      <p:sp>
        <p:nvSpPr>
          <p:cNvPr id="7" name="Rounded Rectangle 6"/>
          <p:cNvSpPr/>
          <p:nvPr/>
        </p:nvSpPr>
        <p:spPr>
          <a:xfrm>
            <a:off x="4389120" y="1828800"/>
            <a:ext cx="3291840" cy="4389120"/>
          </a:xfrm>
          <a:prstGeom prst="roundRect">
            <a:avLst/>
          </a:prstGeom>
          <a:solidFill>
            <a:srgbClr val="131D31"/>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2. AI Routing &amp; Triage Engine</a:t>
            </a:r>
          </a:p>
          <a:p>
            <a:pPr>
              <a:spcAft>
                <a:spcPts val="600"/>
              </a:spcAft>
            </a:pPr>
            <a:r>
              <a:rPr b="1" sz="1200">
                <a:solidFill>
                  <a:srgbClr val="F8FAFC"/>
                </a:solidFill>
              </a:rPr>
              <a:t>- Semantic Text Classification: </a:t>
            </a:r>
            <a:r>
              <a:rPr sz="1200">
                <a:solidFill>
                  <a:srgbClr val="94A3B8"/>
                </a:solidFill>
              </a:rPr>
              <a:t>Parses citizen descriptions and categorizes them into appropriate civil departments.</a:t>
            </a:r>
          </a:p>
          <a:p>
            <a:pPr>
              <a:spcAft>
                <a:spcPts val="600"/>
              </a:spcAft>
            </a:pPr>
            <a:r>
              <a:rPr b="1" sz="1200">
                <a:solidFill>
                  <a:srgbClr val="F8FAFC"/>
                </a:solidFill>
              </a:rPr>
              <a:t>- Automated Priority Scoring: </a:t>
            </a:r>
            <a:r>
              <a:rPr sz="1200">
                <a:solidFill>
                  <a:srgbClr val="94A3B8"/>
                </a:solidFill>
              </a:rPr>
              <a:t>Evaluates emergency risk to assign P1 (Critical - 4h), P2 (High - 24h), P3, or P4 tiers.</a:t>
            </a:r>
          </a:p>
          <a:p>
            <a:pPr>
              <a:spcAft>
                <a:spcPts val="600"/>
              </a:spcAft>
            </a:pPr>
            <a:r>
              <a:rPr b="1" sz="1200">
                <a:solidFill>
                  <a:srgbClr val="F8FAFC"/>
                </a:solidFill>
              </a:rPr>
              <a:t>- Confidence Metric: </a:t>
            </a:r>
            <a:r>
              <a:rPr sz="1200">
                <a:solidFill>
                  <a:srgbClr val="94A3B8"/>
                </a:solidFill>
              </a:rPr>
              <a:t>Provides controllers with a 0-100% confidence rating, enabling one-click override or approval.</a:t>
            </a:r>
          </a:p>
          <a:p>
            <a:pPr>
              <a:spcAft>
                <a:spcPts val="600"/>
              </a:spcAft>
            </a:pPr>
            <a:r>
              <a:rPr b="1" sz="1200">
                <a:solidFill>
                  <a:srgbClr val="F8FAFC"/>
                </a:solidFill>
              </a:rPr>
              <a:t>- Closed-Loop Feedback: </a:t>
            </a:r>
            <a:r>
              <a:rPr sz="1200">
                <a:solidFill>
                  <a:srgbClr val="94A3B8"/>
                </a:solidFill>
              </a:rPr>
              <a:t>Improves accuracy over time by analyzing controller overrides and dispute patterns.</a:t>
            </a:r>
          </a:p>
        </p:txBody>
      </p:sp>
      <p:sp>
        <p:nvSpPr>
          <p:cNvPr id="8" name="Rounded Rectangle 7"/>
          <p:cNvSpPr/>
          <p:nvPr/>
        </p:nvSpPr>
        <p:spPr>
          <a:xfrm>
            <a:off x="8046720" y="1828800"/>
            <a:ext cx="3383280" cy="438912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22C55E"/>
                </a:solidFill>
              </a:defRPr>
            </a:pPr>
            <a:r>
              <a:t>3. Spatial Deduplication</a:t>
            </a:r>
          </a:p>
          <a:p>
            <a:pPr>
              <a:spcAft>
                <a:spcPts val="600"/>
              </a:spcAft>
            </a:pPr>
            <a:r>
              <a:rPr b="1" sz="1200">
                <a:solidFill>
                  <a:srgbClr val="F8FAFC"/>
                </a:solidFill>
              </a:rPr>
              <a:t>- Haversine Proximity Engine: </a:t>
            </a:r>
            <a:r>
              <a:rPr sz="1200">
                <a:solidFill>
                  <a:srgbClr val="94A3B8"/>
                </a:solidFill>
              </a:rPr>
              <a:t>Calculates geo-distance radius between incoming complaints and active open tickets.</a:t>
            </a:r>
          </a:p>
          <a:p>
            <a:pPr>
              <a:spcAft>
                <a:spcPts val="600"/>
              </a:spcAft>
            </a:pPr>
            <a:r>
              <a:rPr b="1" sz="1200">
                <a:solidFill>
                  <a:srgbClr val="F8FAFC"/>
                </a:solidFill>
              </a:rPr>
              <a:t>- Text &amp; Category Similarity: </a:t>
            </a:r>
            <a:r>
              <a:rPr sz="1200">
                <a:solidFill>
                  <a:srgbClr val="94A3B8"/>
                </a:solidFill>
              </a:rPr>
              <a:t>Compares complaint descriptions to identify co-located incident duplicates.</a:t>
            </a:r>
          </a:p>
          <a:p>
            <a:pPr>
              <a:spcAft>
                <a:spcPts val="600"/>
              </a:spcAft>
            </a:pPr>
            <a:r>
              <a:rPr b="1" sz="1200">
                <a:solidFill>
                  <a:srgbClr val="F8FAFC"/>
                </a:solidFill>
              </a:rPr>
              <a:t>- Automated Incident Grouping: </a:t>
            </a:r>
            <a:r>
              <a:rPr sz="1200">
                <a:solidFill>
                  <a:srgbClr val="94A3B8"/>
                </a:solidFill>
              </a:rPr>
              <a:t>Groups duplicate citizen reports into a single Parent Master Ticket to eliminate field crew waste.</a:t>
            </a:r>
          </a:p>
          <a:p>
            <a:pPr>
              <a:spcAft>
                <a:spcPts val="600"/>
              </a:spcAft>
            </a:pPr>
            <a:r>
              <a:rPr b="1" sz="1200">
                <a:solidFill>
                  <a:srgbClr val="F8FAFC"/>
                </a:solidFill>
              </a:rPr>
              <a:t>- Broadcasting Resolution: </a:t>
            </a:r>
            <a:r>
              <a:rPr sz="1200">
                <a:solidFill>
                  <a:srgbClr val="94A3B8"/>
                </a:solidFill>
              </a:rPr>
              <a:t>When the parent work order is resolved, all grouped citizen tickets update simultaneously.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SYSTEM ENGINEERING</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End-to-End Technology Stack</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Engineered for speed, offline reliability, strict privacy, and zero data corruption.</a:t>
            </a:r>
          </a:p>
        </p:txBody>
      </p:sp>
      <p:sp>
        <p:nvSpPr>
          <p:cNvPr id="6" name="Rounded Rectangle 5"/>
          <p:cNvSpPr/>
          <p:nvPr/>
        </p:nvSpPr>
        <p:spPr>
          <a:xfrm>
            <a:off x="731520" y="1828800"/>
            <a:ext cx="329184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8FAFC"/>
                </a:solidFill>
              </a:defRPr>
            </a:pPr>
            <a:r>
              <a:t>Frontend &amp; Desktop UI</a:t>
            </a:r>
          </a:p>
          <a:p>
            <a:pPr>
              <a:spcAft>
                <a:spcPts val="600"/>
              </a:spcAft>
            </a:pPr>
            <a:r>
              <a:rPr b="1" sz="1200">
                <a:solidFill>
                  <a:srgbClr val="F8FAFC"/>
                </a:solidFill>
              </a:rPr>
              <a:t>- React 18 + Vite 6: </a:t>
            </a:r>
            <a:r>
              <a:rPr sz="1200">
                <a:solidFill>
                  <a:srgbClr val="94A3B8"/>
                </a:solidFill>
              </a:rPr>
              <a:t>Fast SPA rendering with modular component architecture.</a:t>
            </a:r>
          </a:p>
          <a:p>
            <a:pPr>
              <a:spcAft>
                <a:spcPts val="600"/>
              </a:spcAft>
            </a:pPr>
            <a:r>
              <a:rPr b="1" sz="1200">
                <a:solidFill>
                  <a:srgbClr val="F8FAFC"/>
                </a:solidFill>
              </a:rPr>
              <a:t>- Tailwind CSS: </a:t>
            </a:r>
            <a:r>
              <a:rPr sz="1200">
                <a:solidFill>
                  <a:srgbClr val="94A3B8"/>
                </a:solidFill>
              </a:rPr>
              <a:t>Semantic dark charcoal palette (#0B1120) with amber civic accents (#F59E0B).</a:t>
            </a:r>
          </a:p>
          <a:p>
            <a:pPr>
              <a:spcAft>
                <a:spcPts val="600"/>
              </a:spcAft>
            </a:pPr>
            <a:r>
              <a:rPr b="1" sz="1200">
                <a:solidFill>
                  <a:srgbClr val="F8FAFC"/>
                </a:solidFill>
              </a:rPr>
              <a:t>- Electron Shell: </a:t>
            </a:r>
            <a:r>
              <a:rPr sz="1200">
                <a:solidFill>
                  <a:srgbClr val="94A3B8"/>
                </a:solidFill>
              </a:rPr>
              <a:t>Cross-platform desktop packaging with native window title controls &amp; system integration.</a:t>
            </a:r>
          </a:p>
          <a:p>
            <a:pPr>
              <a:spcAft>
                <a:spcPts val="600"/>
              </a:spcAft>
            </a:pPr>
            <a:r>
              <a:rPr b="1" sz="1200">
                <a:solidFill>
                  <a:srgbClr val="F8FAFC"/>
                </a:solidFill>
              </a:rPr>
              <a:t>- Framer Motion &amp; Lucide: </a:t>
            </a:r>
            <a:r>
              <a:rPr sz="1200">
                <a:solidFill>
                  <a:srgbClr val="94A3B8"/>
                </a:solidFill>
              </a:rPr>
              <a:t>Purposeful civic micro-animations, clear data density, and standard civic-tech iconography.</a:t>
            </a:r>
          </a:p>
          <a:p>
            <a:pPr>
              <a:spcAft>
                <a:spcPts val="600"/>
              </a:spcAft>
            </a:pPr>
            <a:r>
              <a:rPr b="1" sz="1200">
                <a:solidFill>
                  <a:srgbClr val="F8FAFC"/>
                </a:solidFill>
              </a:rPr>
              <a:t>- Leaflet &amp; OpenStreetMap: </a:t>
            </a:r>
            <a:r>
              <a:rPr sz="1200">
                <a:solidFill>
                  <a:srgbClr val="94A3B8"/>
                </a:solidFill>
              </a:rPr>
              <a:t>Performant GIS mapping engine with custom color-coded status pins and ward ring overlays.</a:t>
            </a:r>
          </a:p>
        </p:txBody>
      </p:sp>
      <p:sp>
        <p:nvSpPr>
          <p:cNvPr id="7" name="Rounded Rectangle 6"/>
          <p:cNvSpPr/>
          <p:nvPr/>
        </p:nvSpPr>
        <p:spPr>
          <a:xfrm>
            <a:off x="4389120" y="1828800"/>
            <a:ext cx="329184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Backend REST API</a:t>
            </a:r>
          </a:p>
          <a:p>
            <a:pPr>
              <a:spcAft>
                <a:spcPts val="600"/>
              </a:spcAft>
            </a:pPr>
            <a:r>
              <a:rPr b="1" sz="1200">
                <a:solidFill>
                  <a:srgbClr val="F8FAFC"/>
                </a:solidFill>
              </a:rPr>
              <a:t>- Node.js &amp; Express.js: </a:t>
            </a:r>
            <a:r>
              <a:rPr sz="1200">
                <a:solidFill>
                  <a:srgbClr val="94A3B8"/>
                </a:solidFill>
              </a:rPr>
              <a:t>Asynchronous, event-driven RESTful architecture with ES Modules.</a:t>
            </a:r>
          </a:p>
          <a:p>
            <a:pPr>
              <a:spcAft>
                <a:spcPts val="600"/>
              </a:spcAft>
            </a:pPr>
            <a:r>
              <a:rPr b="1" sz="1200">
                <a:solidFill>
                  <a:srgbClr val="F8FAFC"/>
                </a:solidFill>
              </a:rPr>
              <a:t>- JWT &amp; Multi-Role Auth: </a:t>
            </a:r>
            <a:r>
              <a:rPr sz="1200">
                <a:solidFill>
                  <a:srgbClr val="94A3B8"/>
                </a:solidFill>
              </a:rPr>
              <a:t>Bcrypt password hashing and secure token-based authentication across 11 personas.</a:t>
            </a:r>
          </a:p>
          <a:p>
            <a:pPr>
              <a:spcAft>
                <a:spcPts val="600"/>
              </a:spcAft>
            </a:pPr>
            <a:r>
              <a:rPr b="1" sz="1200">
                <a:solidFill>
                  <a:srgbClr val="F8FAFC"/>
                </a:solidFill>
              </a:rPr>
              <a:t>- Helmet &amp; Rate Limiting: </a:t>
            </a:r>
            <a:r>
              <a:rPr sz="1200">
                <a:solidFill>
                  <a:srgbClr val="94A3B8"/>
                </a:solidFill>
              </a:rPr>
              <a:t>Enterprise security headers, CORS origin whitelisting, and DoS mitigation.</a:t>
            </a:r>
          </a:p>
          <a:p>
            <a:pPr>
              <a:spcAft>
                <a:spcPts val="600"/>
              </a:spcAft>
            </a:pPr>
            <a:r>
              <a:rPr b="1" sz="1200">
                <a:solidFill>
                  <a:srgbClr val="F8FAFC"/>
                </a:solidFill>
              </a:rPr>
              <a:t>- Request Tracing: </a:t>
            </a:r>
            <a:r>
              <a:rPr sz="1200">
                <a:solidFill>
                  <a:srgbClr val="94A3B8"/>
                </a:solidFill>
              </a:rPr>
              <a:t>Unique X-Request-ID (UUIDv4) stamped onto every HTTP transaction for end-to-end tracing.</a:t>
            </a:r>
          </a:p>
          <a:p>
            <a:pPr>
              <a:spcAft>
                <a:spcPts val="600"/>
              </a:spcAft>
            </a:pPr>
            <a:r>
              <a:rPr b="1" sz="1200">
                <a:solidFill>
                  <a:srgbClr val="F8FAFC"/>
                </a:solidFill>
              </a:rPr>
              <a:t>- Database Gatekeeper: </a:t>
            </a:r>
            <a:r>
              <a:rPr sz="1200">
                <a:solidFill>
                  <a:srgbClr val="94A3B8"/>
                </a:solidFill>
              </a:rPr>
              <a:t>Middleware returning clean 503 errors with honest fallback if MongoDB is restarting.</a:t>
            </a:r>
          </a:p>
        </p:txBody>
      </p:sp>
      <p:sp>
        <p:nvSpPr>
          <p:cNvPr id="8" name="Rounded Rectangle 7"/>
          <p:cNvSpPr/>
          <p:nvPr/>
        </p:nvSpPr>
        <p:spPr>
          <a:xfrm>
            <a:off x="8046720" y="1828800"/>
            <a:ext cx="33832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Database &amp; Data Layer</a:t>
            </a:r>
          </a:p>
          <a:p>
            <a:pPr>
              <a:spcAft>
                <a:spcPts val="600"/>
              </a:spcAft>
            </a:pPr>
            <a:r>
              <a:rPr b="1" sz="1200">
                <a:solidFill>
                  <a:srgbClr val="F8FAFC"/>
                </a:solidFill>
              </a:rPr>
              <a:t>- MongoDB &amp; Mongoose ODM: </a:t>
            </a:r>
            <a:r>
              <a:rPr sz="1200">
                <a:solidFill>
                  <a:srgbClr val="94A3B8"/>
                </a:solidFill>
              </a:rPr>
              <a:t>Document database handling 14 strict schemas with spatial GeoJSON indexing.</a:t>
            </a:r>
          </a:p>
          <a:p>
            <a:pPr>
              <a:spcAft>
                <a:spcPts val="600"/>
              </a:spcAft>
            </a:pPr>
            <a:r>
              <a:rPr b="1" sz="1200">
                <a:solidFill>
                  <a:srgbClr val="F8FAFC"/>
                </a:solidFill>
              </a:rPr>
              <a:t>- Atomic Sequential Counters: </a:t>
            </a:r>
            <a:r>
              <a:rPr sz="1200">
                <a:solidFill>
                  <a:srgbClr val="94A3B8"/>
                </a:solidFill>
              </a:rPr>
              <a:t>Thread-safe Counter model generating collision-free IDs (NGS-2026-XXXXXX).</a:t>
            </a:r>
          </a:p>
          <a:p>
            <a:pPr>
              <a:spcAft>
                <a:spcPts val="600"/>
              </a:spcAft>
            </a:pPr>
            <a:r>
              <a:rPr b="1" sz="1200">
                <a:solidFill>
                  <a:srgbClr val="F8FAFC"/>
                </a:solidFill>
              </a:rPr>
              <a:t>- Immutable AuditLog: </a:t>
            </a:r>
            <a:r>
              <a:rPr sz="1200">
                <a:solidFill>
                  <a:srgbClr val="94A3B8"/>
                </a:solidFill>
              </a:rPr>
              <a:t>Append-only ledger logging actor, role, mutation action, IP, and timestamp for accountability.</a:t>
            </a:r>
          </a:p>
          <a:p>
            <a:pPr>
              <a:spcAft>
                <a:spcPts val="600"/>
              </a:spcAft>
            </a:pPr>
            <a:r>
              <a:rPr b="1" sz="1200">
                <a:solidFill>
                  <a:srgbClr val="F8FAFC"/>
                </a:solidFill>
              </a:rPr>
              <a:t>- Multi-Tenant Isolation: </a:t>
            </a:r>
            <a:r>
              <a:rPr sz="1200">
                <a:solidFill>
                  <a:srgbClr val="94A3B8"/>
                </a:solidFill>
              </a:rPr>
              <a:t>Strict municipalityId scoping ensuring zero cross-city data leakage between municipalities.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REAL-WORLD DATA</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Flagship Focus: Ichalkaranji Municipal Corporation</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Tailored specifically for the prominent textile city of Ichalkaranji (IMC).</a:t>
            </a:r>
          </a:p>
        </p:txBody>
      </p:sp>
      <p:sp>
        <p:nvSpPr>
          <p:cNvPr id="6" name="Rounded Rectangle 5"/>
          <p:cNvSpPr/>
          <p:nvPr/>
        </p:nvSpPr>
        <p:spPr>
          <a:xfrm>
            <a:off x="7315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Authentic Geographic &amp; Administrative Details</a:t>
            </a:r>
          </a:p>
          <a:p>
            <a:pPr>
              <a:spcAft>
                <a:spcPts val="600"/>
              </a:spcAft>
            </a:pPr>
            <a:r>
              <a:rPr b="1" sz="1200">
                <a:solidFill>
                  <a:srgbClr val="F8FAFC"/>
                </a:solidFill>
              </a:rPr>
              <a:t>- Municipal Headquarters: </a:t>
            </a:r>
            <a:r>
              <a:rPr sz="1200">
                <a:solidFill>
                  <a:srgbClr val="94A3B8"/>
                </a:solidFill>
              </a:rPr>
              <a:t>Station Road, beside Guru Talkies, Vikas Nagar, Ichalkaranji - 416115.</a:t>
            </a:r>
          </a:p>
          <a:p>
            <a:pPr>
              <a:spcAft>
                <a:spcPts val="600"/>
              </a:spcAft>
            </a:pPr>
            <a:r>
              <a:rPr b="1" sz="1200">
                <a:solidFill>
                  <a:srgbClr val="F8FAFC"/>
                </a:solidFill>
              </a:rPr>
              <a:t>- Geographic Coordinates: </a:t>
            </a:r>
            <a:r>
              <a:rPr sz="1200">
                <a:solidFill>
                  <a:srgbClr val="94A3B8"/>
                </a:solidFill>
              </a:rPr>
              <a:t>16.69916 N latitude, 74.45775 E longitude (Centered at [16.6992, 74.4578]).</a:t>
            </a:r>
          </a:p>
          <a:p>
            <a:pPr>
              <a:spcAft>
                <a:spcPts val="600"/>
              </a:spcAft>
            </a:pPr>
            <a:r>
              <a:rPr b="1" sz="1200">
                <a:solidFill>
                  <a:srgbClr val="F8FAFC"/>
                </a:solidFill>
              </a:rPr>
              <a:t>- Jurisdiction Footprint: </a:t>
            </a:r>
            <a:r>
              <a:rPr sz="1200">
                <a:solidFill>
                  <a:srgbClr val="94A3B8"/>
                </a:solidFill>
              </a:rPr>
              <a:t>49.84 sq km governing Hatkanangale Taluka, Kolhapur District, Panchganga Valley.</a:t>
            </a:r>
          </a:p>
          <a:p>
            <a:pPr>
              <a:spcAft>
                <a:spcPts val="600"/>
              </a:spcAft>
            </a:pPr>
            <a:r>
              <a:rPr b="1" sz="1200">
                <a:solidFill>
                  <a:srgbClr val="F8FAFC"/>
                </a:solidFill>
              </a:rPr>
              <a:t>- Administrative Units: </a:t>
            </a:r>
            <a:r>
              <a:rPr sz="1200">
                <a:solidFill>
                  <a:srgbClr val="94A3B8"/>
                </a:solidFill>
              </a:rPr>
              <a:t>Organized across 65 Municipal Wards grouped into 16 Election Wards / Prabhags.</a:t>
            </a:r>
          </a:p>
          <a:p>
            <a:pPr>
              <a:spcAft>
                <a:spcPts val="600"/>
              </a:spcAft>
            </a:pPr>
            <a:r>
              <a:rPr b="1" sz="1200">
                <a:solidFill>
                  <a:srgbClr val="F8FAFC"/>
                </a:solidFill>
              </a:rPr>
              <a:t>- Strict Privacy Compliance: </a:t>
            </a:r>
            <a:r>
              <a:rPr sz="1200">
                <a:solidFill>
                  <a:srgbClr val="94A3B8"/>
                </a:solidFill>
              </a:rPr>
              <a:t>Zero personal phone numbers or unverified helplines; institutional administrative titles only.</a:t>
            </a:r>
          </a:p>
        </p:txBody>
      </p:sp>
      <p:sp>
        <p:nvSpPr>
          <p:cNvPr id="7" name="Rounded Rectangle 6"/>
          <p:cNvSpPr/>
          <p:nvPr/>
        </p:nvSpPr>
        <p:spPr>
          <a:xfrm>
            <a:off x="62179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Mapped Prabhags &amp; City Infrastructure</a:t>
            </a:r>
          </a:p>
          <a:p>
            <a:pPr>
              <a:spcAft>
                <a:spcPts val="600"/>
              </a:spcAft>
            </a:pPr>
            <a:r>
              <a:rPr b="1" sz="1200">
                <a:solidFill>
                  <a:srgbClr val="F8FAFC"/>
                </a:solidFill>
              </a:rPr>
              <a:t>- Ward 1: Rajwada &amp; Kapad Market: </a:t>
            </a:r>
            <a:r>
              <a:rPr sz="1200">
                <a:solidFill>
                  <a:srgbClr val="94A3B8"/>
                </a:solidFill>
              </a:rPr>
              <a:t>Textile trading hub; focus on commercial traffic corridors and pedestrian footpaths.</a:t>
            </a:r>
          </a:p>
          <a:p>
            <a:pPr>
              <a:spcAft>
                <a:spcPts val="600"/>
              </a:spcAft>
            </a:pPr>
            <a:r>
              <a:rPr b="1" sz="1200">
                <a:solidFill>
                  <a:srgbClr val="F8FAFC"/>
                </a:solidFill>
              </a:rPr>
              <a:t>- Ward 2: Janata Chowk &amp; D.K.T.E.: </a:t>
            </a:r>
            <a:r>
              <a:rPr sz="1200">
                <a:solidFill>
                  <a:srgbClr val="94A3B8"/>
                </a:solidFill>
              </a:rPr>
              <a:t>Academic and high-density intersection; rapid road pothole and streetlight priority.</a:t>
            </a:r>
          </a:p>
          <a:p>
            <a:pPr>
              <a:spcAft>
                <a:spcPts val="600"/>
              </a:spcAft>
            </a:pPr>
            <a:r>
              <a:rPr b="1" sz="1200">
                <a:solidFill>
                  <a:srgbClr val="F8FAFC"/>
                </a:solidFill>
              </a:rPr>
              <a:t>- Ward 4: Station Road &amp; Vikas Nagar (HQ): </a:t>
            </a:r>
            <a:r>
              <a:rPr sz="1200">
                <a:solidFill>
                  <a:srgbClr val="94A3B8"/>
                </a:solidFill>
              </a:rPr>
              <a:t>Corporation Headquarters and civic administration command perimeter.</a:t>
            </a:r>
          </a:p>
          <a:p>
            <a:pPr>
              <a:spcAft>
                <a:spcPts val="600"/>
              </a:spcAft>
            </a:pPr>
            <a:r>
              <a:rPr b="1" sz="1200">
                <a:solidFill>
                  <a:srgbClr val="F8FAFC"/>
                </a:solidFill>
              </a:rPr>
              <a:t>- Ward 5: Powerloom Weaving Estate: </a:t>
            </a:r>
            <a:r>
              <a:rPr sz="1200">
                <a:solidFill>
                  <a:srgbClr val="94A3B8"/>
                </a:solidFill>
              </a:rPr>
              <a:t>Industrial zone; dedicated handling for textile yarn waste, drainage, and heavy load lines.</a:t>
            </a:r>
          </a:p>
          <a:p>
            <a:pPr>
              <a:spcAft>
                <a:spcPts val="600"/>
              </a:spcAft>
            </a:pPr>
            <a:r>
              <a:rPr b="1" sz="1200">
                <a:solidFill>
                  <a:srgbClr val="F8FAFC"/>
                </a:solidFill>
              </a:rPr>
              <a:t>- Ward 6: Panchganga Intake Well: </a:t>
            </a:r>
            <a:r>
              <a:rPr sz="1200">
                <a:solidFill>
                  <a:srgbClr val="94A3B8"/>
                </a:solidFill>
              </a:rPr>
              <a:t>Primary municipal drinking water source; P1 emergency monitoring for pipeline integrity.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PROCESS ENGINEERING</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Closed-Loop Civic Grievance Lifecycle</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From citizen submission to automated triage, field proof, and citizen sign-off.</a:t>
            </a:r>
          </a:p>
        </p:txBody>
      </p:sp>
      <p:sp>
        <p:nvSpPr>
          <p:cNvPr id="6" name="Rounded Rectangle 5"/>
          <p:cNvSpPr/>
          <p:nvPr/>
        </p:nvSpPr>
        <p:spPr>
          <a:xfrm>
            <a:off x="731520" y="2011680"/>
            <a:ext cx="2011680" cy="4114800"/>
          </a:xfrm>
          <a:prstGeom prst="roundRect">
            <a:avLst/>
          </a:prstGeom>
          <a:solidFill>
            <a:srgbClr val="131D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000" b="1">
                <a:solidFill>
                  <a:srgbClr val="F59E0B"/>
                </a:solidFill>
              </a:defRPr>
            </a:pPr>
            <a:r>
              <a:t>STEP 1</a:t>
            </a:r>
          </a:p>
          <a:p>
            <a:pPr>
              <a:spcAft>
                <a:spcPts val="400"/>
              </a:spcAft>
              <a:defRPr sz="1400" b="1">
                <a:solidFill>
                  <a:srgbClr val="F8FAFC"/>
                </a:solidFill>
              </a:defRPr>
            </a:pPr>
            <a:r>
              <a:t>1. CITIZEN</a:t>
            </a:r>
          </a:p>
          <a:p>
            <a:pPr>
              <a:spcAft>
                <a:spcPts val="1200"/>
              </a:spcAft>
              <a:defRPr sz="1100" b="1">
                <a:solidFill>
                  <a:srgbClr val="F59E0B"/>
                </a:solidFill>
              </a:defRPr>
            </a:pPr>
            <a:r>
              <a:t>Filing &amp; Evidence</a:t>
            </a:r>
          </a:p>
          <a:p>
            <a:pPr>
              <a:defRPr sz="1100">
                <a:solidFill>
                  <a:srgbClr val="94A3B8"/>
                </a:solidFill>
              </a:defRPr>
            </a:pPr>
            <a:r>
              <a:t>Citizen uploads photo, geotag coordinates, and description in English.</a:t>
            </a:r>
          </a:p>
        </p:txBody>
      </p:sp>
      <p:sp>
        <p:nvSpPr>
          <p:cNvPr id="7" name="Rounded Rectangle 6"/>
          <p:cNvSpPr/>
          <p:nvPr/>
        </p:nvSpPr>
        <p:spPr>
          <a:xfrm>
            <a:off x="2926080" y="2011680"/>
            <a:ext cx="2011680" cy="4114800"/>
          </a:xfrm>
          <a:prstGeom prst="roundRect">
            <a:avLst/>
          </a:prstGeom>
          <a:solidFill>
            <a:srgbClr val="131D31"/>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000" b="1">
                <a:solidFill>
                  <a:srgbClr val="14B8A6"/>
                </a:solidFill>
              </a:defRPr>
            </a:pPr>
            <a:r>
              <a:t>STEP 2</a:t>
            </a:r>
          </a:p>
          <a:p>
            <a:pPr>
              <a:spcAft>
                <a:spcPts val="400"/>
              </a:spcAft>
              <a:defRPr sz="1400" b="1">
                <a:solidFill>
                  <a:srgbClr val="F8FAFC"/>
                </a:solidFill>
              </a:defRPr>
            </a:pPr>
            <a:r>
              <a:t>2. AI TRIAGE</a:t>
            </a:r>
          </a:p>
          <a:p>
            <a:pPr>
              <a:spcAft>
                <a:spcPts val="1200"/>
              </a:spcAft>
              <a:defRPr sz="1100" b="1">
                <a:solidFill>
                  <a:srgbClr val="14B8A6"/>
                </a:solidFill>
              </a:defRPr>
            </a:pPr>
            <a:r>
              <a:t>Analysis &amp; Grouping</a:t>
            </a:r>
          </a:p>
          <a:p>
            <a:pPr>
              <a:defRPr sz="1100">
                <a:solidFill>
                  <a:srgbClr val="94A3B8"/>
                </a:solidFill>
              </a:defRPr>
            </a:pPr>
            <a:r>
              <a:t>AI detects duplicates, categorizes department, and calculates SLA deadline.</a:t>
            </a:r>
          </a:p>
        </p:txBody>
      </p:sp>
      <p:sp>
        <p:nvSpPr>
          <p:cNvPr id="8" name="Rounded Rectangle 7"/>
          <p:cNvSpPr/>
          <p:nvPr/>
        </p:nvSpPr>
        <p:spPr>
          <a:xfrm>
            <a:off x="5120640" y="2011680"/>
            <a:ext cx="2011680" cy="4114800"/>
          </a:xfrm>
          <a:prstGeom prst="roundRect">
            <a:avLst/>
          </a:prstGeom>
          <a:solidFill>
            <a:srgbClr val="131D31"/>
          </a:solidFill>
          <a:ln w="1905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000" b="1">
                <a:solidFill>
                  <a:srgbClr val="F8FAFC"/>
                </a:solidFill>
              </a:defRPr>
            </a:pPr>
            <a:r>
              <a:t>STEP 3</a:t>
            </a:r>
          </a:p>
          <a:p>
            <a:pPr>
              <a:spcAft>
                <a:spcPts val="400"/>
              </a:spcAft>
              <a:defRPr sz="1400" b="1">
                <a:solidFill>
                  <a:srgbClr val="F8FAFC"/>
                </a:solidFill>
              </a:defRPr>
            </a:pPr>
            <a:r>
              <a:t>3. DISPATCH</a:t>
            </a:r>
          </a:p>
          <a:p>
            <a:pPr>
              <a:spcAft>
                <a:spcPts val="1200"/>
              </a:spcAft>
              <a:defRPr sz="1100" b="1">
                <a:solidFill>
                  <a:srgbClr val="F8FAFC"/>
                </a:solidFill>
              </a:defRPr>
            </a:pPr>
            <a:r>
              <a:t>Work Order Created</a:t>
            </a:r>
          </a:p>
          <a:p>
            <a:pPr>
              <a:defRPr sz="1100">
                <a:solidFill>
                  <a:srgbClr val="94A3B8"/>
                </a:solidFill>
              </a:defRPr>
            </a:pPr>
            <a:r>
              <a:t>Controller confirms routing; Work Order (WO-2026-XXX) auto-dispatched to crew.</a:t>
            </a:r>
          </a:p>
        </p:txBody>
      </p:sp>
      <p:sp>
        <p:nvSpPr>
          <p:cNvPr id="9" name="Rounded Rectangle 8"/>
          <p:cNvSpPr/>
          <p:nvPr/>
        </p:nvSpPr>
        <p:spPr>
          <a:xfrm>
            <a:off x="7315199" y="2011680"/>
            <a:ext cx="2011680" cy="411480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000" b="1">
                <a:solidFill>
                  <a:srgbClr val="22C55E"/>
                </a:solidFill>
              </a:defRPr>
            </a:pPr>
            <a:r>
              <a:t>STEP 4</a:t>
            </a:r>
          </a:p>
          <a:p>
            <a:pPr>
              <a:spcAft>
                <a:spcPts val="400"/>
              </a:spcAft>
              <a:defRPr sz="1400" b="1">
                <a:solidFill>
                  <a:srgbClr val="F8FAFC"/>
                </a:solidFill>
              </a:defRPr>
            </a:pPr>
            <a:r>
              <a:t>4. FIELD WORK</a:t>
            </a:r>
          </a:p>
          <a:p>
            <a:pPr>
              <a:spcAft>
                <a:spcPts val="1200"/>
              </a:spcAft>
              <a:defRPr sz="1100" b="1">
                <a:solidFill>
                  <a:srgbClr val="22C55E"/>
                </a:solidFill>
              </a:defRPr>
            </a:pPr>
            <a:r>
              <a:t>Execution &amp; Proof</a:t>
            </a:r>
          </a:p>
          <a:p>
            <a:pPr>
              <a:defRPr sz="1100">
                <a:solidFill>
                  <a:srgbClr val="94A3B8"/>
                </a:solidFill>
              </a:defRPr>
            </a:pPr>
            <a:r>
              <a:t>Municipal worker accepts order, conducts repairs, and uploads before/after photos.</a:t>
            </a:r>
          </a:p>
        </p:txBody>
      </p:sp>
      <p:sp>
        <p:nvSpPr>
          <p:cNvPr id="10" name="Rounded Rectangle 9"/>
          <p:cNvSpPr/>
          <p:nvPr/>
        </p:nvSpPr>
        <p:spPr>
          <a:xfrm>
            <a:off x="9509760" y="2011680"/>
            <a:ext cx="2011680" cy="4114800"/>
          </a:xfrm>
          <a:prstGeom prst="roundRect">
            <a:avLst/>
          </a:prstGeom>
          <a:solidFill>
            <a:srgbClr val="131D31"/>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400"/>
              </a:spcAft>
              <a:defRPr sz="1000" b="1">
                <a:solidFill>
                  <a:srgbClr val="F43F5E"/>
                </a:solidFill>
              </a:defRPr>
            </a:pPr>
            <a:r>
              <a:t>STEP 5</a:t>
            </a:r>
          </a:p>
          <a:p>
            <a:pPr>
              <a:spcAft>
                <a:spcPts val="400"/>
              </a:spcAft>
              <a:defRPr sz="1400" b="1">
                <a:solidFill>
                  <a:srgbClr val="F8FAFC"/>
                </a:solidFill>
              </a:defRPr>
            </a:pPr>
            <a:r>
              <a:t>5. CLOSURE</a:t>
            </a:r>
          </a:p>
          <a:p>
            <a:pPr>
              <a:spcAft>
                <a:spcPts val="1200"/>
              </a:spcAft>
              <a:defRPr sz="1100" b="1">
                <a:solidFill>
                  <a:srgbClr val="F43F5E"/>
                </a:solidFill>
              </a:defRPr>
            </a:pPr>
            <a:r>
              <a:t>Citizen Sign-Off</a:t>
            </a:r>
          </a:p>
          <a:p>
            <a:pPr>
              <a:defRPr sz="1100">
                <a:solidFill>
                  <a:srgbClr val="94A3B8"/>
                </a:solidFill>
              </a:defRPr>
            </a:pPr>
            <a:r>
              <a:t>Complainant verifies actual fix; if unsatisfied, citizen triggers instant rework path.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FIELD EXECUTION</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Work Orders &amp; Resolution Proof Verification</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Eliminating paper closures through GPS and photographic audit evidence.</a:t>
            </a:r>
          </a:p>
        </p:txBody>
      </p:sp>
      <p:sp>
        <p:nvSpPr>
          <p:cNvPr id="6" name="Rounded Rectangle 5"/>
          <p:cNvSpPr/>
          <p:nvPr/>
        </p:nvSpPr>
        <p:spPr>
          <a:xfrm>
            <a:off x="7315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Field Dispatch Console Features</a:t>
            </a:r>
          </a:p>
          <a:p>
            <a:pPr>
              <a:spcAft>
                <a:spcPts val="600"/>
              </a:spcAft>
            </a:pPr>
            <a:r>
              <a:rPr b="1" sz="1200">
                <a:solidFill>
                  <a:srgbClr val="F8FAFC"/>
                </a:solidFill>
              </a:rPr>
              <a:t>- City-Scoped Order Queues: </a:t>
            </a:r>
            <a:r>
              <a:rPr sz="1200">
                <a:solidFill>
                  <a:srgbClr val="94A3B8"/>
                </a:solidFill>
              </a:rPr>
              <a:t>Dedicated work order streams for each municipal jurisdiction with zero cross-city leakage.</a:t>
            </a:r>
          </a:p>
          <a:p>
            <a:pPr>
              <a:spcAft>
                <a:spcPts val="600"/>
              </a:spcAft>
            </a:pPr>
            <a:r>
              <a:rPr b="1" sz="1200">
                <a:solidFill>
                  <a:srgbClr val="F8FAFC"/>
                </a:solidFill>
              </a:rPr>
              <a:t>- Worker Acceptance Workflow: </a:t>
            </a:r>
            <a:r>
              <a:rPr sz="1200">
                <a:solidFill>
                  <a:srgbClr val="94A3B8"/>
                </a:solidFill>
              </a:rPr>
              <a:t>Assigned municipal crews accept dispatch, transition status to 'IN_PROGRESS', and log due dates.</a:t>
            </a:r>
          </a:p>
          <a:p>
            <a:pPr>
              <a:spcAft>
                <a:spcPts val="600"/>
              </a:spcAft>
            </a:pPr>
            <a:r>
              <a:rPr b="1" sz="1200">
                <a:solidFill>
                  <a:srgbClr val="F8FAFC"/>
                </a:solidFill>
              </a:rPr>
              <a:t>- Structured Scope of Work: </a:t>
            </a:r>
            <a:r>
              <a:rPr sz="1200">
                <a:solidFill>
                  <a:srgbClr val="94A3B8"/>
                </a:solidFill>
              </a:rPr>
              <a:t>Clear field instructions detailing repair specifications (e.g., hot-mix asphalt, pipeline clamp size).</a:t>
            </a:r>
          </a:p>
          <a:p>
            <a:pPr>
              <a:spcAft>
                <a:spcPts val="600"/>
              </a:spcAft>
            </a:pPr>
            <a:r>
              <a:rPr b="1" sz="1200">
                <a:solidFill>
                  <a:srgbClr val="F8FAFC"/>
                </a:solidFill>
              </a:rPr>
              <a:t>- Live Filter Tabs: </a:t>
            </a:r>
            <a:r>
              <a:rPr sz="1200">
                <a:solidFill>
                  <a:srgbClr val="94A3B8"/>
                </a:solidFill>
              </a:rPr>
              <a:t>Instant sorting across All, In Progress, Work Completed, and Verification Pending (QC).</a:t>
            </a:r>
          </a:p>
        </p:txBody>
      </p:sp>
      <p:sp>
        <p:nvSpPr>
          <p:cNvPr id="7" name="Rounded Rectangle 6"/>
          <p:cNvSpPr/>
          <p:nvPr/>
        </p:nvSpPr>
        <p:spPr>
          <a:xfrm>
            <a:off x="62179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Evidence &amp; Quality Control (QC)</a:t>
            </a:r>
          </a:p>
          <a:p>
            <a:pPr>
              <a:spcAft>
                <a:spcPts val="600"/>
              </a:spcAft>
            </a:pPr>
            <a:r>
              <a:rPr b="1" sz="1200">
                <a:solidFill>
                  <a:srgbClr val="F8FAFC"/>
                </a:solidFill>
              </a:rPr>
              <a:t>- Before &amp; After Photographs: </a:t>
            </a:r>
            <a:r>
              <a:rPr sz="1200">
                <a:solidFill>
                  <a:srgbClr val="94A3B8"/>
                </a:solidFill>
              </a:rPr>
              <a:t>Workers must upload photographic evidence showing the site before repair and after completion.</a:t>
            </a:r>
          </a:p>
          <a:p>
            <a:pPr>
              <a:spcAft>
                <a:spcPts val="600"/>
              </a:spcAft>
            </a:pPr>
            <a:r>
              <a:rPr b="1" sz="1200">
                <a:solidFill>
                  <a:srgbClr val="F8FAFC"/>
                </a:solidFill>
              </a:rPr>
              <a:t>- GPS Coordinate Verification: </a:t>
            </a:r>
            <a:r>
              <a:rPr sz="1200">
                <a:solidFill>
                  <a:srgbClr val="94A3B8"/>
                </a:solidFill>
              </a:rPr>
              <a:t>Uploaded photos are verified against the original pinned complaint coordinates.</a:t>
            </a:r>
          </a:p>
          <a:p>
            <a:pPr>
              <a:spcAft>
                <a:spcPts val="600"/>
              </a:spcAft>
            </a:pPr>
            <a:r>
              <a:rPr b="1" sz="1200">
                <a:solidFill>
                  <a:srgbClr val="F8FAFC"/>
                </a:solidFill>
              </a:rPr>
              <a:t>- Supervisor Acceptance / Rejection: </a:t>
            </a:r>
            <a:r>
              <a:rPr sz="1200">
                <a:solidFill>
                  <a:srgbClr val="94A3B8"/>
                </a:solidFill>
              </a:rPr>
              <a:t>Department supervisors inspect evidence; rejecting work creates a trackable rework path.</a:t>
            </a:r>
          </a:p>
          <a:p>
            <a:pPr>
              <a:spcAft>
                <a:spcPts val="600"/>
              </a:spcAft>
            </a:pPr>
            <a:r>
              <a:rPr b="1" sz="1200">
                <a:solidFill>
                  <a:srgbClr val="F8FAFC"/>
                </a:solidFill>
              </a:rPr>
              <a:t>- Audit History Trail: </a:t>
            </a:r>
            <a:r>
              <a:rPr sz="1200">
                <a:solidFill>
                  <a:srgbClr val="94A3B8"/>
                </a:solidFill>
              </a:rPr>
              <a:t>Timestamped worker notes, supervisor remarks, and rework history are saved to the permanent case 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ACCOUNTABILITY</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Automated SLA Monitor &amp; Escalation Hierarchy</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Transparent countdown timers enforcing municipal service guarantees.</a:t>
            </a:r>
          </a:p>
        </p:txBody>
      </p:sp>
      <p:sp>
        <p:nvSpPr>
          <p:cNvPr id="6" name="Rounded Rectangle 5"/>
          <p:cNvSpPr/>
          <p:nvPr/>
        </p:nvSpPr>
        <p:spPr>
          <a:xfrm>
            <a:off x="731520" y="1828800"/>
            <a:ext cx="5212080" cy="4389120"/>
          </a:xfrm>
          <a:prstGeom prst="roundRect">
            <a:avLst/>
          </a:prstGeom>
          <a:solidFill>
            <a:srgbClr val="131D31"/>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43F5E"/>
                </a:solidFill>
              </a:defRPr>
            </a:pPr>
            <a:r>
              <a:t>Priority Tiers &amp; Resolution Deadlines</a:t>
            </a:r>
          </a:p>
          <a:p>
            <a:pPr>
              <a:spcAft>
                <a:spcPts val="600"/>
              </a:spcAft>
            </a:pPr>
            <a:r>
              <a:rPr b="1" sz="1200">
                <a:solidFill>
                  <a:srgbClr val="F8FAFC"/>
                </a:solidFill>
              </a:rPr>
              <a:t>- P1 Critical (4 - 6 Hours SLA): </a:t>
            </a:r>
            <a:r>
              <a:rPr sz="1200">
                <a:solidFill>
                  <a:srgbClr val="94A3B8"/>
                </a:solidFill>
              </a:rPr>
              <a:t>Severe public hazards: main water line burst, contaminated water, active live electric wire.</a:t>
            </a:r>
          </a:p>
          <a:p>
            <a:pPr>
              <a:spcAft>
                <a:spcPts val="600"/>
              </a:spcAft>
            </a:pPr>
            <a:r>
              <a:rPr b="1" sz="1200">
                <a:solidFill>
                  <a:srgbClr val="F8FAFC"/>
                </a:solidFill>
              </a:rPr>
              <a:t>- P2 High (12 - 24 Hours SLA): </a:t>
            </a:r>
            <a:r>
              <a:rPr sz="1200">
                <a:solidFill>
                  <a:srgbClr val="94A3B8"/>
                </a:solidFill>
              </a:rPr>
              <a:t>Major corridor disruptions: deep pothole cavities, fallen trees, streetlight grid outages.</a:t>
            </a:r>
          </a:p>
          <a:p>
            <a:pPr>
              <a:spcAft>
                <a:spcPts val="600"/>
              </a:spcAft>
            </a:pPr>
            <a:r>
              <a:rPr b="1" sz="1200">
                <a:solidFill>
                  <a:srgbClr val="F8FAFC"/>
                </a:solidFill>
              </a:rPr>
              <a:t>- P3 Medium (24 - 48 Hours SLA): </a:t>
            </a:r>
            <a:r>
              <a:rPr sz="1200">
                <a:solidFill>
                  <a:srgbClr val="94A3B8"/>
                </a:solidFill>
              </a:rPr>
              <a:t>Public sanitation: solid waste bin overflows, clogged stormwater drains, broken paver blocks.</a:t>
            </a:r>
          </a:p>
          <a:p>
            <a:pPr>
              <a:spcAft>
                <a:spcPts val="600"/>
              </a:spcAft>
            </a:pPr>
            <a:r>
              <a:rPr b="1" sz="1200">
                <a:solidFill>
                  <a:srgbClr val="F8FAFC"/>
                </a:solidFill>
              </a:rPr>
              <a:t>- P4 Low (72 - 96 Hours SLA): </a:t>
            </a:r>
            <a:r>
              <a:rPr sz="1200">
                <a:solidFill>
                  <a:srgbClr val="94A3B8"/>
                </a:solidFill>
              </a:rPr>
              <a:t>Non-emergency civic maintenance: general footpath encroachment, signage repainting.</a:t>
            </a:r>
          </a:p>
        </p:txBody>
      </p:sp>
      <p:sp>
        <p:nvSpPr>
          <p:cNvPr id="7" name="Rounded Rectangle 6"/>
          <p:cNvSpPr/>
          <p:nvPr/>
        </p:nvSpPr>
        <p:spPr>
          <a:xfrm>
            <a:off x="62179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Multi-Level Automated Escalations</a:t>
            </a:r>
          </a:p>
          <a:p>
            <a:pPr>
              <a:spcAft>
                <a:spcPts val="600"/>
              </a:spcAft>
            </a:pPr>
            <a:r>
              <a:rPr b="1" sz="1200">
                <a:solidFill>
                  <a:srgbClr val="F8FAFC"/>
                </a:solidFill>
              </a:rPr>
              <a:t>- Level 1 Escalation (At-Risk Warning): </a:t>
            </a:r>
            <a:r>
              <a:rPr sz="1200">
                <a:solidFill>
                  <a:srgbClr val="94A3B8"/>
                </a:solidFill>
              </a:rPr>
              <a:t>Triggers automated alert when 75% of allotted SLA time has elapsed without worker dispatch.</a:t>
            </a:r>
          </a:p>
          <a:p>
            <a:pPr>
              <a:spcAft>
                <a:spcPts val="600"/>
              </a:spcAft>
            </a:pPr>
            <a:r>
              <a:rPr b="1" sz="1200">
                <a:solidFill>
                  <a:srgbClr val="F8FAFC"/>
                </a:solidFill>
              </a:rPr>
              <a:t>- Level 2 Escalation (SLA Breach): </a:t>
            </a:r>
            <a:r>
              <a:rPr sz="1200">
                <a:solidFill>
                  <a:srgbClr val="94A3B8"/>
                </a:solidFill>
              </a:rPr>
              <a:t>Automatically creates an escalation record and transfers case to Department Officer &amp; Controller.</a:t>
            </a:r>
          </a:p>
          <a:p>
            <a:pPr>
              <a:spcAft>
                <a:spcPts val="600"/>
              </a:spcAft>
            </a:pPr>
            <a:r>
              <a:rPr b="1" sz="1200">
                <a:solidFill>
                  <a:srgbClr val="F8FAFC"/>
                </a:solidFill>
              </a:rPr>
              <a:t>- Level 3 Escalation (Executive Notice): </a:t>
            </a:r>
            <a:r>
              <a:rPr sz="1200">
                <a:solidFill>
                  <a:srgbClr val="94A3B8"/>
                </a:solidFill>
              </a:rPr>
              <a:t>Flags chronic delays directly to the Municipal Commissioner / Senior Authority (IAS).</a:t>
            </a:r>
          </a:p>
          <a:p>
            <a:pPr>
              <a:spcAft>
                <a:spcPts val="600"/>
              </a:spcAft>
            </a:pPr>
            <a:r>
              <a:rPr b="1" sz="1200">
                <a:solidFill>
                  <a:srgbClr val="F8FAFC"/>
                </a:solidFill>
              </a:rPr>
              <a:t>- Immutable SLA Event Log: </a:t>
            </a:r>
            <a:r>
              <a:rPr sz="1200">
                <a:solidFill>
                  <a:srgbClr val="94A3B8"/>
                </a:solidFill>
              </a:rPr>
              <a:t>SLAEvents table logs elapsed minutes, remaining buffer, and audit accountability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SECURITY &amp; ROLES</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11-Persona Role-Based Access Control (RBAC)</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Fine-grained permissions and dedicated dashboards for every civic stakeholder.</a:t>
            </a:r>
          </a:p>
        </p:txBody>
      </p:sp>
      <p:sp>
        <p:nvSpPr>
          <p:cNvPr id="6" name="Rounded Rectangle 5"/>
          <p:cNvSpPr/>
          <p:nvPr/>
        </p:nvSpPr>
        <p:spPr>
          <a:xfrm>
            <a:off x="731520" y="1828800"/>
            <a:ext cx="329184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Public &amp; Field Personas</a:t>
            </a:r>
          </a:p>
          <a:p>
            <a:pPr>
              <a:spcAft>
                <a:spcPts val="600"/>
              </a:spcAft>
            </a:pPr>
            <a:r>
              <a:rPr b="1" sz="1200">
                <a:solidFill>
                  <a:srgbClr val="F8FAFC"/>
                </a:solidFill>
              </a:rPr>
              <a:t>- CITIZEN: </a:t>
            </a:r>
            <a:r>
              <a:rPr sz="1200">
                <a:solidFill>
                  <a:srgbClr val="94A3B8"/>
                </a:solidFill>
              </a:rPr>
              <a:t>Report issues, track personal cases, view public projects, verify resolution.</a:t>
            </a:r>
          </a:p>
          <a:p>
            <a:pPr>
              <a:spcAft>
                <a:spcPts val="600"/>
              </a:spcAft>
            </a:pPr>
            <a:r>
              <a:rPr b="1" sz="1200">
                <a:solidFill>
                  <a:srgbClr val="F8FAFC"/>
                </a:solidFill>
              </a:rPr>
              <a:t>- MUNICIPAL_WORKER: </a:t>
            </a:r>
            <a:r>
              <a:rPr sz="1200">
                <a:solidFill>
                  <a:srgbClr val="94A3B8"/>
                </a:solidFill>
              </a:rPr>
              <a:t>View assigned tasks, update work status, upload before/after evidence photos.</a:t>
            </a:r>
          </a:p>
          <a:p>
            <a:pPr>
              <a:spcAft>
                <a:spcPts val="600"/>
              </a:spcAft>
            </a:pPr>
            <a:r>
              <a:rPr b="1" sz="1200">
                <a:solidFill>
                  <a:srgbClr val="F8FAFC"/>
                </a:solidFill>
              </a:rPr>
              <a:t>- WARD_MEMBER: </a:t>
            </a:r>
            <a:r>
              <a:rPr sz="1200">
                <a:solidFill>
                  <a:srgbClr val="94A3B8"/>
                </a:solidFill>
              </a:rPr>
              <a:t>Monitor ward grievances, ward citizen satisfaction, review development works.</a:t>
            </a:r>
          </a:p>
          <a:p>
            <a:pPr>
              <a:spcAft>
                <a:spcPts val="600"/>
              </a:spcAft>
            </a:pPr>
            <a:r>
              <a:rPr b="1" sz="1200">
                <a:solidFill>
                  <a:srgbClr val="F8FAFC"/>
                </a:solidFill>
              </a:rPr>
              <a:t>- WARD_OFFICER: </a:t>
            </a:r>
            <a:r>
              <a:rPr sz="1200">
                <a:solidFill>
                  <a:srgbClr val="94A3B8"/>
                </a:solidFill>
              </a:rPr>
              <a:t>Ward-level oversight, local crew coordination, SLA breach tracking.</a:t>
            </a:r>
          </a:p>
        </p:txBody>
      </p:sp>
      <p:sp>
        <p:nvSpPr>
          <p:cNvPr id="7" name="Rounded Rectangle 6"/>
          <p:cNvSpPr/>
          <p:nvPr/>
        </p:nvSpPr>
        <p:spPr>
          <a:xfrm>
            <a:off x="4389120" y="1828800"/>
            <a:ext cx="329184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Departmental &amp; Control</a:t>
            </a:r>
          </a:p>
          <a:p>
            <a:pPr>
              <a:spcAft>
                <a:spcPts val="600"/>
              </a:spcAft>
            </a:pPr>
            <a:r>
              <a:rPr b="1" sz="1200">
                <a:solidFill>
                  <a:srgbClr val="F8FAFC"/>
                </a:solidFill>
              </a:rPr>
              <a:t>- DEPARTMENT_SUPERVISOR: </a:t>
            </a:r>
            <a:r>
              <a:rPr sz="1200">
                <a:solidFill>
                  <a:srgbClr val="94A3B8"/>
                </a:solidFill>
              </a:rPr>
              <a:t>Create work orders, assign field workers, inspect QC proof, approve/reject rework.</a:t>
            </a:r>
          </a:p>
          <a:p>
            <a:pPr>
              <a:spcAft>
                <a:spcPts val="600"/>
              </a:spcAft>
            </a:pPr>
            <a:r>
              <a:rPr b="1" sz="1200">
                <a:solidFill>
                  <a:srgbClr val="F8FAFC"/>
                </a:solidFill>
              </a:rPr>
              <a:t>- DEPARTMENT_OFFICER: </a:t>
            </a:r>
            <a:r>
              <a:rPr sz="1200">
                <a:solidFill>
                  <a:srgbClr val="94A3B8"/>
                </a:solidFill>
              </a:rPr>
              <a:t>Departmental budget, multi-ward infrastructure planning, workforce metrics.</a:t>
            </a:r>
          </a:p>
          <a:p>
            <a:pPr>
              <a:spcAft>
                <a:spcPts val="600"/>
              </a:spcAft>
            </a:pPr>
            <a:r>
              <a:rPr b="1" sz="1200">
                <a:solidFill>
                  <a:srgbClr val="F8FAFC"/>
                </a:solidFill>
              </a:rPr>
              <a:t>- NAGARSETU_CONTROLLER: </a:t>
            </a:r>
            <a:r>
              <a:rPr sz="1200">
                <a:solidFill>
                  <a:srgbClr val="94A3B8"/>
                </a:solidFill>
              </a:rPr>
              <a:t>Mission-control command center, AI routing queue override, citywide triage.</a:t>
            </a:r>
          </a:p>
        </p:txBody>
      </p:sp>
      <p:sp>
        <p:nvSpPr>
          <p:cNvPr id="8" name="Rounded Rectangle 7"/>
          <p:cNvSpPr/>
          <p:nvPr/>
        </p:nvSpPr>
        <p:spPr>
          <a:xfrm>
            <a:off x="8046720" y="1828800"/>
            <a:ext cx="33832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8FAFC"/>
                </a:solidFill>
              </a:defRPr>
            </a:pPr>
            <a:r>
              <a:t>Executive &amp; Emergency</a:t>
            </a:r>
          </a:p>
          <a:p>
            <a:pPr>
              <a:spcAft>
                <a:spcPts val="600"/>
              </a:spcAft>
            </a:pPr>
            <a:r>
              <a:rPr b="1" sz="1200">
                <a:solidFill>
                  <a:srgbClr val="F8FAFC"/>
                </a:solidFill>
              </a:rPr>
              <a:t>- SENIOR_AUTHORITY (IAS): </a:t>
            </a:r>
            <a:r>
              <a:rPr sz="1200">
                <a:solidFill>
                  <a:srgbClr val="94A3B8"/>
                </a:solidFill>
              </a:rPr>
              <a:t>Executive dashboard, high-level SLA compliance, cross-department analytics.</a:t>
            </a:r>
          </a:p>
          <a:p>
            <a:pPr>
              <a:spcAft>
                <a:spcPts val="600"/>
              </a:spcAft>
            </a:pPr>
            <a:r>
              <a:rPr b="1" sz="1200">
                <a:solidFill>
                  <a:srgbClr val="F8FAFC"/>
                </a:solidFill>
              </a:rPr>
              <a:t>- POLICE_EMERGENCY_USER: </a:t>
            </a:r>
            <a:r>
              <a:rPr sz="1200">
                <a:solidFill>
                  <a:srgbClr val="94A3B8"/>
                </a:solidFill>
              </a:rPr>
              <a:t>Emergency gateway for inter-agency disaster &amp; crisis dispatch.</a:t>
            </a:r>
          </a:p>
          <a:p>
            <a:pPr>
              <a:spcAft>
                <a:spcPts val="600"/>
              </a:spcAft>
            </a:pPr>
            <a:r>
              <a:rPr b="1" sz="1200">
                <a:solidFill>
                  <a:srgbClr val="F8FAFC"/>
                </a:solidFill>
              </a:rPr>
              <a:t>- CITY_ADMIN &amp; SUPER_ADMIN: </a:t>
            </a:r>
            <a:r>
              <a:rPr sz="1200">
                <a:solidFill>
                  <a:srgbClr val="94A3B8"/>
                </a:solidFill>
              </a:rPr>
              <a:t>System configuration, user management, audit log inspection, tenant isolation.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LIVE OPERATIONS</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Smart City GIS Spatial Mesh &amp; Live Telemetry</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Real-time municipal health monitoring with zero UI clipping.</a:t>
            </a:r>
          </a:p>
        </p:txBody>
      </p:sp>
      <p:sp>
        <p:nvSpPr>
          <p:cNvPr id="6" name="Rounded Rectangle 5"/>
          <p:cNvSpPr/>
          <p:nvPr/>
        </p:nvSpPr>
        <p:spPr>
          <a:xfrm>
            <a:off x="7315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Smart City GIS Map Features</a:t>
            </a:r>
          </a:p>
          <a:p>
            <a:pPr>
              <a:spcAft>
                <a:spcPts val="600"/>
              </a:spcAft>
            </a:pPr>
            <a:r>
              <a:rPr b="1" sz="1200">
                <a:solidFill>
                  <a:srgbClr val="F8FAFC"/>
                </a:solidFill>
              </a:rPr>
              <a:t>- Leaflet / CartoDB Integration: </a:t>
            </a:r>
            <a:r>
              <a:rPr sz="1200">
                <a:solidFill>
                  <a:srgbClr val="94A3B8"/>
                </a:solidFill>
              </a:rPr>
              <a:t>Theme-aware tiles (Dark Charcoal mode and Crisp Light mode) with zero map distortion.</a:t>
            </a:r>
          </a:p>
          <a:p>
            <a:pPr>
              <a:spcAft>
                <a:spcPts val="600"/>
              </a:spcAft>
            </a:pPr>
            <a:r>
              <a:rPr b="1" sz="1200">
                <a:solidFill>
                  <a:srgbClr val="F8FAFC"/>
                </a:solidFill>
              </a:rPr>
              <a:t>- Ward Boundary Rings: </a:t>
            </a:r>
            <a:r>
              <a:rPr sz="1200">
                <a:solidFill>
                  <a:srgbClr val="94A3B8"/>
                </a:solidFill>
              </a:rPr>
              <a:t>Displays interactive dashed boundary rings for each election ward with population stats.</a:t>
            </a:r>
          </a:p>
          <a:p>
            <a:pPr>
              <a:spcAft>
                <a:spcPts val="600"/>
              </a:spcAft>
            </a:pPr>
            <a:r>
              <a:rPr b="1" sz="1200">
                <a:solidFill>
                  <a:srgbClr val="F8FAFC"/>
                </a:solidFill>
              </a:rPr>
              <a:t>- Color-Coded Priority Pins: </a:t>
            </a:r>
            <a:r>
              <a:rPr sz="1200">
                <a:solidFill>
                  <a:srgbClr val="94A3B8"/>
                </a:solidFill>
              </a:rPr>
              <a:t>Red (P1 Critical), Amber (P2 High), Blue (P3 Medium) with live SLA countdown popups.</a:t>
            </a:r>
          </a:p>
          <a:p>
            <a:pPr>
              <a:spcAft>
                <a:spcPts val="600"/>
              </a:spcAft>
            </a:pPr>
            <a:r>
              <a:rPr b="1" sz="1200">
                <a:solidFill>
                  <a:srgbClr val="F8FAFC"/>
                </a:solidFill>
              </a:rPr>
              <a:t>- Field Worker GPS Pins: </a:t>
            </a:r>
            <a:r>
              <a:rPr sz="1200">
                <a:solidFill>
                  <a:srgbClr val="94A3B8"/>
                </a:solidFill>
              </a:rPr>
              <a:t>Tracks active field units (e.g. Amit Jadhav, Santosh Pawar) deployed across the city.</a:t>
            </a:r>
          </a:p>
          <a:p>
            <a:pPr>
              <a:spcAft>
                <a:spcPts val="600"/>
              </a:spcAft>
            </a:pPr>
            <a:r>
              <a:rPr b="1" sz="1200">
                <a:solidFill>
                  <a:srgbClr val="F8FAFC"/>
                </a:solidFill>
              </a:rPr>
              <a:t>- 1-Click Ticket Inspection: </a:t>
            </a:r>
            <a:r>
              <a:rPr sz="1200">
                <a:solidFill>
                  <a:srgbClr val="94A3B8"/>
                </a:solidFill>
              </a:rPr>
              <a:t>Map popup connects directly to the full audit case file and work order.</a:t>
            </a:r>
          </a:p>
        </p:txBody>
      </p:sp>
      <p:sp>
        <p:nvSpPr>
          <p:cNvPr id="7" name="Rounded Rectangle 6"/>
          <p:cNvSpPr/>
          <p:nvPr/>
        </p:nvSpPr>
        <p:spPr>
          <a:xfrm>
            <a:off x="62179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14B8A6"/>
                </a:solidFill>
              </a:defRPr>
            </a:pPr>
            <a:r>
              <a:t>Civic Infrastructure Telemetry Grid</a:t>
            </a:r>
          </a:p>
          <a:p>
            <a:pPr>
              <a:spcAft>
                <a:spcPts val="600"/>
              </a:spcAft>
            </a:pPr>
            <a:r>
              <a:rPr b="1" sz="1200">
                <a:solidFill>
                  <a:srgbClr val="F8FAFC"/>
                </a:solidFill>
              </a:rPr>
              <a:t>- Water Supply Sector: </a:t>
            </a:r>
            <a:r>
              <a:rPr sz="1200">
                <a:solidFill>
                  <a:srgbClr val="94A3B8"/>
                </a:solidFill>
              </a:rPr>
              <a:t>Panchganga intake pressure, main pipeline flow, and contamination alert monitor.</a:t>
            </a:r>
          </a:p>
          <a:p>
            <a:pPr>
              <a:spcAft>
                <a:spcPts val="600"/>
              </a:spcAft>
            </a:pPr>
            <a:r>
              <a:rPr b="1" sz="1200">
                <a:solidFill>
                  <a:srgbClr val="F8FAFC"/>
                </a:solidFill>
              </a:rPr>
              <a:t>- Power &amp; Streetlighting: </a:t>
            </a:r>
            <a:r>
              <a:rPr sz="1200">
                <a:solidFill>
                  <a:srgbClr val="94A3B8"/>
                </a:solidFill>
              </a:rPr>
              <a:t>High-mast lighting status, feeder cable fault alerts, and energy consumption index.</a:t>
            </a:r>
          </a:p>
          <a:p>
            <a:pPr>
              <a:spcAft>
                <a:spcPts val="600"/>
              </a:spcAft>
            </a:pPr>
            <a:r>
              <a:rPr b="1" sz="1200">
                <a:solidFill>
                  <a:srgbClr val="F8FAFC"/>
                </a:solidFill>
              </a:rPr>
              <a:t>- Roads &amp; Mobility: </a:t>
            </a:r>
            <a:r>
              <a:rPr sz="1200">
                <a:solidFill>
                  <a:srgbClr val="94A3B8"/>
                </a:solidFill>
              </a:rPr>
              <a:t>Pothole repair throughput, asphalt crew dispatch, and corridor congestion telemetry.</a:t>
            </a:r>
          </a:p>
          <a:p>
            <a:pPr>
              <a:spcAft>
                <a:spcPts val="600"/>
              </a:spcAft>
            </a:pPr>
            <a:r>
              <a:rPr b="1" sz="1200">
                <a:solidFill>
                  <a:srgbClr val="F8FAFC"/>
                </a:solidFill>
              </a:rPr>
              <a:t>- Drainage &amp; Sewage: </a:t>
            </a:r>
            <a:r>
              <a:rPr sz="1200">
                <a:solidFill>
                  <a:srgbClr val="94A3B8"/>
                </a:solidFill>
              </a:rPr>
              <a:t>Stormwater silt buildup, desilting progress, and monsoon flood risk indicators.</a:t>
            </a:r>
          </a:p>
          <a:p>
            <a:pPr>
              <a:spcAft>
                <a:spcPts val="600"/>
              </a:spcAft>
            </a:pPr>
            <a:r>
              <a:rPr b="1" sz="1200">
                <a:solidFill>
                  <a:srgbClr val="F8FAFC"/>
                </a:solidFill>
              </a:rPr>
              <a:t>- Solid Waste Management: </a:t>
            </a:r>
            <a:r>
              <a:rPr sz="1200">
                <a:solidFill>
                  <a:srgbClr val="94A3B8"/>
                </a:solidFill>
              </a:rPr>
              <a:t>Garbage bin level sensors, collection route tracking, and daily disposal tonnage.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solidFill>
              <a:srgbClr val="0B11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515600" cy="320040"/>
          </a:xfrm>
          <a:prstGeom prst="rect">
            <a:avLst/>
          </a:prstGeom>
          <a:noFill/>
        </p:spPr>
        <p:txBody>
          <a:bodyPr wrap="square" lIns="0" tIns="0" rIns="0" bIns="0">
            <a:spAutoFit/>
          </a:bodyPr>
          <a:lstStyle/>
          <a:p>
            <a:pPr>
              <a:defRPr sz="1100" b="1">
                <a:solidFill>
                  <a:srgbClr val="F59E0B"/>
                </a:solidFill>
              </a:defRPr>
            </a:pPr>
            <a:r>
              <a:t>IMPACT &amp; CONCLUSION</a:t>
            </a:r>
          </a:p>
        </p:txBody>
      </p:sp>
      <p:sp>
        <p:nvSpPr>
          <p:cNvPr id="4" name="TextBox 3"/>
          <p:cNvSpPr txBox="1"/>
          <p:nvPr/>
        </p:nvSpPr>
        <p:spPr>
          <a:xfrm>
            <a:off x="731520" y="731520"/>
            <a:ext cx="10515600" cy="640080"/>
          </a:xfrm>
          <a:prstGeom prst="rect">
            <a:avLst/>
          </a:prstGeom>
          <a:noFill/>
        </p:spPr>
        <p:txBody>
          <a:bodyPr wrap="square" lIns="0" tIns="0" rIns="0" bIns="0">
            <a:spAutoFit/>
          </a:bodyPr>
          <a:lstStyle/>
          <a:p>
            <a:pPr>
              <a:defRPr sz="2600" b="1">
                <a:solidFill>
                  <a:srgbClr val="F8FAFC"/>
                </a:solidFill>
              </a:defRPr>
            </a:pPr>
            <a:r>
              <a:t>Demonstrated Results &amp; Future Vision</a:t>
            </a:r>
          </a:p>
        </p:txBody>
      </p:sp>
      <p:sp>
        <p:nvSpPr>
          <p:cNvPr id="5" name="TextBox 4"/>
          <p:cNvSpPr txBox="1"/>
          <p:nvPr/>
        </p:nvSpPr>
        <p:spPr>
          <a:xfrm>
            <a:off x="731520" y="1371600"/>
            <a:ext cx="10515600" cy="365760"/>
          </a:xfrm>
          <a:prstGeom prst="rect">
            <a:avLst/>
          </a:prstGeom>
          <a:noFill/>
        </p:spPr>
        <p:txBody>
          <a:bodyPr wrap="square" lIns="0" tIns="0" rIns="0" bIns="0">
            <a:spAutoFit/>
          </a:bodyPr>
          <a:lstStyle/>
          <a:p>
            <a:pPr>
              <a:defRPr sz="1300">
                <a:solidFill>
                  <a:srgbClr val="94A3B8"/>
                </a:solidFill>
              </a:defRPr>
            </a:pPr>
            <a:r>
              <a:t>A verified, production-ready civic technology benchmark.</a:t>
            </a:r>
          </a:p>
        </p:txBody>
      </p:sp>
      <p:sp>
        <p:nvSpPr>
          <p:cNvPr id="6" name="Rounded Rectangle 5"/>
          <p:cNvSpPr/>
          <p:nvPr/>
        </p:nvSpPr>
        <p:spPr>
          <a:xfrm>
            <a:off x="731520" y="1828800"/>
            <a:ext cx="5212080" cy="4389120"/>
          </a:xfrm>
          <a:prstGeom prst="roundRect">
            <a:avLst/>
          </a:prstGeom>
          <a:solidFill>
            <a:srgbClr val="131D31"/>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22C55E"/>
                </a:solidFill>
              </a:defRPr>
            </a:pPr>
            <a:r>
              <a:t>Verified Project Deliverables</a:t>
            </a:r>
          </a:p>
          <a:p>
            <a:pPr>
              <a:spcAft>
                <a:spcPts val="600"/>
              </a:spcAft>
            </a:pPr>
            <a:r>
              <a:rPr b="1" sz="1200">
                <a:solidFill>
                  <a:srgbClr val="F8FAFC"/>
                </a:solidFill>
              </a:rPr>
              <a:t>- Production Build Verified: </a:t>
            </a:r>
            <a:r>
              <a:rPr sz="1200">
                <a:solidFill>
                  <a:srgbClr val="94A3B8"/>
                </a:solidFill>
              </a:rPr>
              <a:t>Clean compilation with Vite &amp; Electron; 0 TypeScript/lint errors; robust desktop shell.</a:t>
            </a:r>
          </a:p>
          <a:p>
            <a:pPr>
              <a:spcAft>
                <a:spcPts val="600"/>
              </a:spcAft>
            </a:pPr>
            <a:r>
              <a:rPr b="1" sz="1200">
                <a:solidFill>
                  <a:srgbClr val="F8FAFC"/>
                </a:solidFill>
              </a:rPr>
              <a:t>- Fully Seeded &amp; Idempotent Database: </a:t>
            </a:r>
            <a:r>
              <a:rPr sz="1200">
                <a:solidFill>
                  <a:srgbClr val="94A3B8"/>
                </a:solidFill>
              </a:rPr>
              <a:t>Pre-configured with Ichalkaranji administrative data, Wards 1-16, and 40+ case workflows.</a:t>
            </a:r>
          </a:p>
          <a:p>
            <a:pPr>
              <a:spcAft>
                <a:spcPts val="600"/>
              </a:spcAft>
            </a:pPr>
            <a:r>
              <a:rPr b="1" sz="1200">
                <a:solidFill>
                  <a:srgbClr val="F8FAFC"/>
                </a:solidFill>
              </a:rPr>
              <a:t>- Strict Security &amp; Privacy Adherence: </a:t>
            </a:r>
            <a:r>
              <a:rPr sz="1200">
                <a:solidFill>
                  <a:srgbClr val="94A3B8"/>
                </a:solidFill>
              </a:rPr>
              <a:t>No private phone numbers leaked, immutable audit trail, atomic sequence numbers.</a:t>
            </a:r>
          </a:p>
          <a:p>
            <a:pPr>
              <a:spcAft>
                <a:spcPts val="600"/>
              </a:spcAft>
            </a:pPr>
            <a:r>
              <a:rPr b="1" sz="1200">
                <a:solidFill>
                  <a:srgbClr val="F8FAFC"/>
                </a:solidFill>
              </a:rPr>
              <a:t>- High Accessibility &amp; Usability: </a:t>
            </a:r>
            <a:r>
              <a:rPr sz="1200">
                <a:solidFill>
                  <a:srgbClr val="94A3B8"/>
                </a:solidFill>
              </a:rPr>
              <a:t>100% of UI controls, bot answers, and forms operate seamlessly in clear, modern English.</a:t>
            </a:r>
          </a:p>
          <a:p>
            <a:pPr>
              <a:spcAft>
                <a:spcPts val="600"/>
              </a:spcAft>
            </a:pPr>
            <a:r>
              <a:rPr b="1" sz="1200">
                <a:solidFill>
                  <a:srgbClr val="F8FAFC"/>
                </a:solidFill>
              </a:rPr>
              <a:t>- Closed-Loop Validation: </a:t>
            </a:r>
            <a:r>
              <a:rPr sz="1200">
                <a:solidFill>
                  <a:srgbClr val="94A3B8"/>
                </a:solidFill>
              </a:rPr>
              <a:t>Demonstrated end-to-end workflow from citizen filing to supervisor QC and citizen closure.</a:t>
            </a:r>
          </a:p>
        </p:txBody>
      </p:sp>
      <p:sp>
        <p:nvSpPr>
          <p:cNvPr id="7" name="Rounded Rectangle 6"/>
          <p:cNvSpPr/>
          <p:nvPr/>
        </p:nvSpPr>
        <p:spPr>
          <a:xfrm>
            <a:off x="6217920" y="1828800"/>
            <a:ext cx="5212080" cy="4389120"/>
          </a:xfrm>
          <a:prstGeom prst="roundRect">
            <a:avLst/>
          </a:prstGeom>
          <a:solidFill>
            <a:srgbClr val="131D31"/>
          </a:solidFill>
          <a:ln w="19050">
            <a:solidFill>
              <a:srgbClr val="2D3B55"/>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82880" bIns="182880"/>
          <a:lstStyle/>
          <a:p>
            <a:pPr algn="ctr">
              <a:spcAft>
                <a:spcPts val="1000"/>
              </a:spcAft>
              <a:defRPr sz="1600" b="1">
                <a:solidFill>
                  <a:srgbClr val="F59E0B"/>
                </a:solidFill>
              </a:defRPr>
            </a:pPr>
            <a:r>
              <a:t>Anticipated Civic Impact</a:t>
            </a:r>
          </a:p>
          <a:p>
            <a:pPr>
              <a:spcAft>
                <a:spcPts val="600"/>
              </a:spcAft>
            </a:pPr>
            <a:r>
              <a:rPr b="1" sz="1200">
                <a:solidFill>
                  <a:srgbClr val="F8FAFC"/>
                </a:solidFill>
              </a:rPr>
              <a:t>- 65% Reduction in Triage Time: </a:t>
            </a:r>
            <a:r>
              <a:rPr sz="1200">
                <a:solidFill>
                  <a:srgbClr val="94A3B8"/>
                </a:solidFill>
              </a:rPr>
              <a:t>Automated AI routing cuts manual complaint sorting from days to milliseconds.</a:t>
            </a:r>
          </a:p>
          <a:p>
            <a:pPr>
              <a:spcAft>
                <a:spcPts val="600"/>
              </a:spcAft>
            </a:pPr>
            <a:r>
              <a:rPr b="1" sz="1200">
                <a:solidFill>
                  <a:srgbClr val="F8FAFC"/>
                </a:solidFill>
              </a:rPr>
              <a:t>- Zero Lost Grievances: </a:t>
            </a:r>
            <a:r>
              <a:rPr sz="1200">
                <a:solidFill>
                  <a:srgbClr val="94A3B8"/>
                </a:solidFill>
              </a:rPr>
              <a:t>Every issue is bound to an immutable sequential ID with automated SLA escalation.</a:t>
            </a:r>
          </a:p>
          <a:p>
            <a:pPr>
              <a:spcAft>
                <a:spcPts val="600"/>
              </a:spcAft>
            </a:pPr>
            <a:r>
              <a:rPr b="1" sz="1200">
                <a:solidFill>
                  <a:srgbClr val="F8FAFC"/>
                </a:solidFill>
              </a:rPr>
              <a:t>- Elimination of Duplicate Waste: </a:t>
            </a:r>
            <a:r>
              <a:rPr sz="1200">
                <a:solidFill>
                  <a:srgbClr val="94A3B8"/>
                </a:solidFill>
              </a:rPr>
              <a:t>Spatial clustering prevents redundant crew dispatches to identical potholes or leaks.</a:t>
            </a:r>
          </a:p>
          <a:p>
            <a:pPr>
              <a:spcAft>
                <a:spcPts val="600"/>
              </a:spcAft>
            </a:pPr>
            <a:r>
              <a:rPr b="1" sz="1200">
                <a:solidFill>
                  <a:srgbClr val="F8FAFC"/>
                </a:solidFill>
              </a:rPr>
              <a:t>- Scalable Blueprint for Indian ULBs: </a:t>
            </a:r>
            <a:r>
              <a:rPr sz="1200">
                <a:solidFill>
                  <a:srgbClr val="94A3B8"/>
                </a:solidFill>
              </a:rPr>
              <a:t>Easily extensible to Pune, Kolhapur, Nashik, or any municipal corporation across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